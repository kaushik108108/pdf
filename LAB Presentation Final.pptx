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57" r:id="rId4"/>
    <p:sldId id="266" r:id="rId5"/>
    <p:sldId id="271" r:id="rId6"/>
    <p:sldId id="270" r:id="rId7"/>
    <p:sldId id="272" r:id="rId8"/>
    <p:sldId id="260" r:id="rId9"/>
    <p:sldId id="267" r:id="rId10"/>
    <p:sldId id="262" r:id="rId11"/>
    <p:sldId id="268" r:id="rId12"/>
    <p:sldId id="269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EF3"/>
    <a:srgbClr val="E7F5F5"/>
    <a:srgbClr val="E2F0D9"/>
    <a:srgbClr val="E5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CA2CB-F1C7-1043-9393-269AE78E5E4C}" v="3" dt="2026-08-05T16:05:20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10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12E8F-4763-6B5A-2A31-E0A0F2B4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B2B26-03CC-3BA1-B4E1-A1790EDE6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EF763-8555-17A1-C2D5-711A950A7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9251C-A2F5-E1C3-3914-4EFDA46D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23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7037-D7F6-B518-5840-8888F218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A0760-4C4A-26EF-211C-050D5FB62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1984D-3C2B-331C-D597-4AB85B1AD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EEBB7-2AF7-6704-680F-D87AAD7D9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65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E5260-8DF7-4722-2887-3732B477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0BE1E-5494-2C95-BBC3-270F0082F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3C7A0-7A67-DCF3-5E92-37F387267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78ADE-ACDD-AEF8-3DF1-59602EE72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32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56439-9B2C-7F77-2669-6E82A114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D70D5-07DD-1093-C25F-047EEB878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107D3-3479-B2E1-47BB-784FCF79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0E3C9-D5E2-523B-D840-CD78CC169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46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2018-56D3-2806-2BF0-9C84803F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B6979-95E2-4D15-2ABA-D5D8177EB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A5068-166C-DD64-5A20-00386959E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A0F28-CCD0-4AE4-B499-B36A873B7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86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C1B7-E631-92A0-18A8-357B6FCD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2E7A3-BDB6-2DBE-6B91-0FA5D1367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D7263-ED2A-2651-8FFE-346C47FE7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58851-89AF-20CD-E60C-A4E61E977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21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43292-64EF-3252-217C-9104230A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054F7-DDFA-4BE7-6467-784288D2E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3AA4D-9CBF-611A-2DDC-3509A550A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FFD06-C17B-81FC-19E9-8840F23E9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74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EF3">
            <a:alpha val="9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6760" y="384441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ASPECTS OF BUSINESS  •  GROUP D9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58892"/>
            <a:ext cx="10698480" cy="11887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GUARANTEE GAME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54551" y="2270121"/>
            <a:ext cx="5252418" cy="502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Guarantee vs. Indemnity, on Trial</a:t>
            </a:r>
            <a:endParaRPr lang="en-US" sz="2800" b="1" i="1" dirty="0"/>
          </a:p>
        </p:txBody>
      </p:sp>
      <p:sp>
        <p:nvSpPr>
          <p:cNvPr id="7" name="Text 5"/>
          <p:cNvSpPr/>
          <p:nvPr/>
        </p:nvSpPr>
        <p:spPr>
          <a:xfrm>
            <a:off x="1295400" y="3308552"/>
            <a:ext cx="9601200" cy="1165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Business Finance Ltd v/s </a:t>
            </a:r>
          </a:p>
          <a:p>
            <a:pPr marL="0" indent="0" algn="ctr">
              <a:buNone/>
            </a:pPr>
            <a:r>
              <a:rPr lang="en-US" sz="240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Tangy Television Ltd, Richard Tuckwell, Very Tangy Media Ltd  [2018] EWHC 1669 (QB)</a:t>
            </a:r>
            <a:endParaRPr lang="en-US" sz="2400" b="1" i="1" dirty="0">
              <a:solidFill>
                <a:srgbClr val="00206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99933E-26AF-1396-F043-3851D41A52B0}"/>
              </a:ext>
            </a:extLst>
          </p:cNvPr>
          <p:cNvGrpSpPr/>
          <p:nvPr/>
        </p:nvGrpSpPr>
        <p:grpSpPr>
          <a:xfrm>
            <a:off x="2219184" y="4854157"/>
            <a:ext cx="3780000" cy="1511665"/>
            <a:chOff x="2405998" y="4608351"/>
            <a:chExt cx="3780000" cy="15116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9D5E9C-01B8-3DCE-F9AB-3B300A9F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2405998" y="4608351"/>
              <a:ext cx="3780000" cy="1350431"/>
            </a:xfrm>
            <a:prstGeom prst="rect">
              <a:avLst/>
            </a:prstGeom>
          </p:spPr>
        </p:pic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770BE5E8-C548-4C8B-8A8C-778E55AFD438}"/>
                </a:ext>
              </a:extLst>
            </p:cNvPr>
            <p:cNvSpPr/>
            <p:nvPr/>
          </p:nvSpPr>
          <p:spPr>
            <a:xfrm>
              <a:off x="2458617" y="5843017"/>
              <a:ext cx="3674762" cy="276999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r>
                <a:rPr lang="en-US" sz="1200" i="1" dirty="0">
                  <a:latin typeface="Abadi ExtraLight" panose="020F0502020204030204" pitchFamily="34" charset="0"/>
                </a:rPr>
                <a:t>Source: https://catalyst-finance.co.uk/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303C86-19D9-547E-E965-0AE709D99478}"/>
              </a:ext>
            </a:extLst>
          </p:cNvPr>
          <p:cNvGrpSpPr/>
          <p:nvPr/>
        </p:nvGrpSpPr>
        <p:grpSpPr>
          <a:xfrm>
            <a:off x="6549789" y="4848340"/>
            <a:ext cx="3780000" cy="1507690"/>
            <a:chOff x="6736603" y="4563204"/>
            <a:chExt cx="3780000" cy="15076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5BB8F3-0631-6D2E-1CBD-09A107874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6603" y="4563204"/>
              <a:ext cx="3780000" cy="1221169"/>
            </a:xfrm>
            <a:prstGeom prst="rect">
              <a:avLst/>
            </a:prstGeom>
          </p:spPr>
        </p:pic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332C4D1B-4456-5A23-3E9F-D54CFE4B4BE5}"/>
                </a:ext>
              </a:extLst>
            </p:cNvPr>
            <p:cNvSpPr/>
            <p:nvPr/>
          </p:nvSpPr>
          <p:spPr>
            <a:xfrm>
              <a:off x="6736603" y="5793895"/>
              <a:ext cx="3674762" cy="276999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r>
                <a:rPr lang="en-US" sz="1200" i="1" dirty="0">
                  <a:latin typeface="Abadi ExtraLight" panose="020F0502020204030204" pitchFamily="34" charset="0"/>
                </a:rPr>
                <a:t>Source: www.verytangytv.com</a:t>
              </a:r>
            </a:p>
          </p:txBody>
        </p:sp>
      </p:grpSp>
      <p:pic>
        <p:nvPicPr>
          <p:cNvPr id="16" name="Graphic 15" descr="Office worker male with solid fill">
            <a:extLst>
              <a:ext uri="{FF2B5EF4-FFF2-40B4-BE49-F238E27FC236}">
                <a16:creationId xmlns:a16="http://schemas.microsoft.com/office/drawing/2014/main" id="{72142E5A-9403-20B1-EE48-74B7E0AE7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2449" y="1294451"/>
            <a:ext cx="517602" cy="517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83C5-4A97-5986-B06E-E4209C87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820354-7B37-DC68-4AFA-C591F90994F3}"/>
              </a:ext>
            </a:extLst>
          </p:cNvPr>
          <p:cNvSpPr/>
          <p:nvPr/>
        </p:nvSpPr>
        <p:spPr>
          <a:xfrm>
            <a:off x="548640" y="25121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CORE LEGAL QUESTION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E1BE54-787E-FEF7-EA7B-1CB8229A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93"/>
          <a:stretch>
            <a:fillRect/>
          </a:stretch>
        </p:blipFill>
        <p:spPr>
          <a:xfrm>
            <a:off x="1611015" y="652376"/>
            <a:ext cx="8969969" cy="5738106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AFD74938-0E82-742E-AE78-701936E5095C}"/>
              </a:ext>
            </a:extLst>
          </p:cNvPr>
          <p:cNvSpPr/>
          <p:nvPr/>
        </p:nvSpPr>
        <p:spPr>
          <a:xfrm>
            <a:off x="1721197" y="6416851"/>
            <a:ext cx="3674762" cy="3693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n-US" i="1" dirty="0">
                <a:latin typeface="Abadi ExtraLight" panose="020F0502020204030204" pitchFamily="34" charset="0"/>
              </a:rPr>
              <a:t>Source: Indian Contract Act 1872</a:t>
            </a:r>
          </a:p>
        </p:txBody>
      </p:sp>
    </p:spTree>
    <p:extLst>
      <p:ext uri="{BB962C8B-B14F-4D97-AF65-F5344CB8AC3E}">
        <p14:creationId xmlns:p14="http://schemas.microsoft.com/office/powerpoint/2010/main" val="239598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14495"/>
            <a:ext cx="11064240" cy="547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Set-Up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444BDA7-E9A0-2DAC-00E1-3034010E99A3}"/>
              </a:ext>
            </a:extLst>
          </p:cNvPr>
          <p:cNvGrpSpPr/>
          <p:nvPr/>
        </p:nvGrpSpPr>
        <p:grpSpPr>
          <a:xfrm>
            <a:off x="145649" y="854919"/>
            <a:ext cx="12018858" cy="3178650"/>
            <a:chOff x="145649" y="137161"/>
            <a:chExt cx="12018858" cy="317865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F6CB423-3621-5757-7C79-CD69F8891F0F}"/>
                </a:ext>
              </a:extLst>
            </p:cNvPr>
            <p:cNvSpPr/>
            <p:nvPr/>
          </p:nvSpPr>
          <p:spPr>
            <a:xfrm>
              <a:off x="145649" y="137161"/>
              <a:ext cx="11900702" cy="317865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74975" y="537026"/>
              <a:ext cx="9161206" cy="59392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85750" indent="-285750" algn="ctr"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Richard Tuckwell</a:t>
              </a:r>
              <a:r>
                <a:rPr lang="en-US" sz="2400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ran Very Tangy Television Ltd (VTTL)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7416BAF-B2DF-25F7-6E1E-D716CC2401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5649" y="225343"/>
              <a:ext cx="1740669" cy="22526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469093-B836-BA17-E77F-17C857C44C88}"/>
                </a:ext>
              </a:extLst>
            </p:cNvPr>
            <p:cNvSpPr txBox="1"/>
            <p:nvPr/>
          </p:nvSpPr>
          <p:spPr>
            <a:xfrm>
              <a:off x="1724172" y="1068333"/>
              <a:ext cx="819710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-US" sz="2000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Needed </a:t>
              </a:r>
              <a:r>
                <a:rPr lang="en-US" sz="2000" b="1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US$40M</a:t>
              </a:r>
              <a:r>
                <a:rPr lang="en-US" sz="2000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from </a:t>
              </a:r>
              <a:r>
                <a:rPr lang="en-US" sz="2000" b="1" i="1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Vanguard Equity</a:t>
              </a:r>
              <a:r>
                <a:rPr lang="en-US" sz="2000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</a:t>
              </a:r>
              <a:r>
                <a:rPr lang="en-US" sz="2000" b="1" i="1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Fund</a:t>
              </a:r>
              <a:r>
                <a:rPr lang="en-US" sz="2000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to </a:t>
              </a:r>
              <a:r>
                <a:rPr lang="en-US" sz="2000" b="1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expand</a:t>
              </a:r>
              <a:r>
                <a:rPr lang="en-US" sz="2000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</a:t>
              </a:r>
              <a:endParaRPr lang="en-US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A41113A-27F9-8E10-5113-4A70B4E7B880}"/>
                </a:ext>
              </a:extLst>
            </p:cNvPr>
            <p:cNvGrpSpPr/>
            <p:nvPr/>
          </p:nvGrpSpPr>
          <p:grpSpPr>
            <a:xfrm>
              <a:off x="2815712" y="1321490"/>
              <a:ext cx="6292606" cy="985953"/>
              <a:chOff x="2982782" y="2326799"/>
              <a:chExt cx="6292606" cy="985953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4EC3E01-06D1-A10A-5FA6-C510B854B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2782" y="2650172"/>
                <a:ext cx="1475546" cy="476691"/>
              </a:xfrm>
              <a:prstGeom prst="rect">
                <a:avLst/>
              </a:prstGeom>
            </p:spPr>
          </p:pic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473E7139-4753-498E-B6A4-CC8D33CC6AFD}"/>
                  </a:ext>
                </a:extLst>
              </p:cNvPr>
              <p:cNvSpPr/>
              <p:nvPr/>
            </p:nvSpPr>
            <p:spPr>
              <a:xfrm>
                <a:off x="4611329" y="2902460"/>
                <a:ext cx="1459146" cy="155372"/>
              </a:xfrm>
              <a:prstGeom prst="rightArrow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08AB5A6-F6F6-C030-BFFB-B5C4B0053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3476" y="2326799"/>
                <a:ext cx="3051912" cy="985953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CAE1FC-7A54-59DA-B456-576A7641DA26}"/>
                </a:ext>
              </a:extLst>
            </p:cNvPr>
            <p:cNvSpPr txBox="1"/>
            <p:nvPr/>
          </p:nvSpPr>
          <p:spPr>
            <a:xfrm>
              <a:off x="2607577" y="2497978"/>
              <a:ext cx="6096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-US" sz="2000" b="1" i="1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REQUIRE UPFRONT SPEND </a:t>
              </a:r>
              <a:br>
                <a:rPr lang="en-US" sz="2000" b="1" i="1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000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(to meet conditions and Standards)</a:t>
              </a:r>
              <a:endParaRPr lang="en-US" sz="18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F93978D-E345-ABB7-72B2-4E72B10810EC}"/>
                </a:ext>
              </a:extLst>
            </p:cNvPr>
            <p:cNvGrpSpPr/>
            <p:nvPr/>
          </p:nvGrpSpPr>
          <p:grpSpPr>
            <a:xfrm>
              <a:off x="9261319" y="486959"/>
              <a:ext cx="2903188" cy="1662345"/>
              <a:chOff x="9428468" y="486959"/>
              <a:chExt cx="2903188" cy="1662345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C1F793F-1D5D-71A9-7796-05A7833F44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6093"/>
              <a:stretch>
                <a:fillRect/>
              </a:stretch>
            </p:blipFill>
            <p:spPr>
              <a:xfrm>
                <a:off x="10250353" y="486959"/>
                <a:ext cx="1295935" cy="1224841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8CF6B0-0BA0-431D-6BE3-0D88F72684D9}"/>
                  </a:ext>
                </a:extLst>
              </p:cNvPr>
              <p:cNvSpPr txBox="1"/>
              <p:nvPr/>
            </p:nvSpPr>
            <p:spPr>
              <a:xfrm>
                <a:off x="9428468" y="1749194"/>
                <a:ext cx="29031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i="1" dirty="0">
                    <a:solidFill>
                      <a:srgbClr val="C00000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Vanguard Equity</a:t>
                </a:r>
                <a:r>
                  <a:rPr lang="en-US" sz="2000" dirty="0">
                    <a:solidFill>
                      <a:srgbClr val="C00000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i="1" dirty="0">
                    <a:solidFill>
                      <a:srgbClr val="C00000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Fund</a:t>
                </a:r>
                <a:r>
                  <a:rPr lang="en-US" sz="2000" dirty="0">
                    <a:solidFill>
                      <a:srgbClr val="12183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</a:t>
                </a:r>
                <a:endParaRPr lang="en-IN" dirty="0"/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0EDE134-BB1C-CC63-9D50-E6F66BDF974E}"/>
              </a:ext>
            </a:extLst>
          </p:cNvPr>
          <p:cNvSpPr txBox="1"/>
          <p:nvPr/>
        </p:nvSpPr>
        <p:spPr>
          <a:xfrm>
            <a:off x="1631538" y="4627642"/>
            <a:ext cx="8197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lang="en-US" sz="2400" dirty="0">
                <a:solidFill>
                  <a:srgbClr val="1218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Short Loan for a Long Loan</a:t>
            </a:r>
            <a:endParaRPr lang="en-US" sz="20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 descr="Businessman Cartoon Vector Art, Icons, and Graphics for Free Download">
            <a:extLst>
              <a:ext uri="{FF2B5EF4-FFF2-40B4-BE49-F238E27FC236}">
                <a16:creationId xmlns:a16="http://schemas.microsoft.com/office/drawing/2014/main" id="{6D135E01-1B74-27DC-283D-0E486CEB7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345175" y="4086857"/>
            <a:ext cx="1336918" cy="266615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372D378-601B-7029-C783-7402BA1C402C}"/>
              </a:ext>
            </a:extLst>
          </p:cNvPr>
          <p:cNvSpPr txBox="1"/>
          <p:nvPr/>
        </p:nvSpPr>
        <p:spPr>
          <a:xfrm>
            <a:off x="2682093" y="539349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Approaches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Catalyst Business Finance Ltd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a short-term bridge loan</a:t>
            </a:r>
            <a:endParaRPr lang="en-I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FDCCFE2-615C-D8A9-C560-43DDE4B62F13}"/>
              </a:ext>
            </a:extLst>
          </p:cNvPr>
          <p:cNvGrpSpPr/>
          <p:nvPr/>
        </p:nvGrpSpPr>
        <p:grpSpPr>
          <a:xfrm>
            <a:off x="9108318" y="4479095"/>
            <a:ext cx="2238069" cy="1409681"/>
            <a:chOff x="9392403" y="4488927"/>
            <a:chExt cx="2238069" cy="1409681"/>
          </a:xfrm>
        </p:grpSpPr>
        <p:pic>
          <p:nvPicPr>
            <p:cNvPr id="42" name="Graphic 41" descr="Money with solid fill">
              <a:extLst>
                <a:ext uri="{FF2B5EF4-FFF2-40B4-BE49-F238E27FC236}">
                  <a16:creationId xmlns:a16="http://schemas.microsoft.com/office/drawing/2014/main" id="{FA3AB8F3-B7F5-9BC5-FD7E-ADBE5460D9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54237" y="4488927"/>
              <a:ext cx="914400" cy="9144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101EB82-9BED-53E5-3B6B-C8809496CE53}"/>
                </a:ext>
              </a:extLst>
            </p:cNvPr>
            <p:cNvSpPr txBox="1"/>
            <p:nvPr/>
          </p:nvSpPr>
          <p:spPr>
            <a:xfrm>
              <a:off x="9392403" y="5313833"/>
              <a:ext cx="22380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£500,000</a:t>
              </a:r>
              <a:r>
                <a:rPr lang="en-US" sz="32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</a:t>
              </a:r>
              <a:endParaRPr lang="en-IN" sz="28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CB7F51B-819B-334D-163E-373CCB32EE02}"/>
              </a:ext>
            </a:extLst>
          </p:cNvPr>
          <p:cNvSpPr txBox="1"/>
          <p:nvPr/>
        </p:nvSpPr>
        <p:spPr>
          <a:xfrm>
            <a:off x="6388853" y="6243729"/>
            <a:ext cx="59211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schemeClr val="bg1">
                    <a:lumMod val="50000"/>
                  </a:schemeClr>
                </a:solidFill>
              </a:rPr>
              <a:t>Source: https://www.vecteezy.com/free-vector/businessman-cartoon</a:t>
            </a:r>
          </a:p>
          <a:p>
            <a:r>
              <a:rPr lang="en-IN" sz="1600" i="1" dirty="0">
                <a:solidFill>
                  <a:schemeClr val="bg1">
                    <a:lumMod val="50000"/>
                  </a:schemeClr>
                </a:solidFill>
              </a:rPr>
              <a:t>Source: https://corporate.vanguard.com/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F53E-675D-7CE4-411E-61D5A429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D22A6E9-382D-8391-F339-CE2A91893E56}"/>
              </a:ext>
            </a:extLst>
          </p:cNvPr>
          <p:cNvSpPr/>
          <p:nvPr/>
        </p:nvSpPr>
        <p:spPr>
          <a:xfrm>
            <a:off x="4431323" y="1939332"/>
            <a:ext cx="7528783" cy="4883273"/>
          </a:xfrm>
          <a:prstGeom prst="roundRect">
            <a:avLst>
              <a:gd name="adj" fmla="val 3704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0" name="Shape 9">
            <a:extLst>
              <a:ext uri="{FF2B5EF4-FFF2-40B4-BE49-F238E27FC236}">
                <a16:creationId xmlns:a16="http://schemas.microsoft.com/office/drawing/2014/main" id="{77A599AB-3F9E-A474-B444-A51DF6262976}"/>
              </a:ext>
            </a:extLst>
          </p:cNvPr>
          <p:cNvSpPr/>
          <p:nvPr/>
        </p:nvSpPr>
        <p:spPr>
          <a:xfrm flipH="1">
            <a:off x="6491573" y="2574795"/>
            <a:ext cx="0" cy="138248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9">
            <a:extLst>
              <a:ext uri="{FF2B5EF4-FFF2-40B4-BE49-F238E27FC236}">
                <a16:creationId xmlns:a16="http://schemas.microsoft.com/office/drawing/2014/main" id="{5818790F-93AE-8190-7249-34FB23643D51}"/>
              </a:ext>
            </a:extLst>
          </p:cNvPr>
          <p:cNvSpPr/>
          <p:nvPr/>
        </p:nvSpPr>
        <p:spPr>
          <a:xfrm flipH="1">
            <a:off x="6491573" y="3817954"/>
            <a:ext cx="0" cy="138248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B9DBB5-E944-985B-8CB0-4C88EC4A9DA9}"/>
              </a:ext>
            </a:extLst>
          </p:cNvPr>
          <p:cNvSpPr/>
          <p:nvPr/>
        </p:nvSpPr>
        <p:spPr>
          <a:xfrm>
            <a:off x="206477" y="133412"/>
            <a:ext cx="11064240" cy="44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Money Trail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3D0376-D40E-5755-9B36-B08F67B1D1CD}"/>
              </a:ext>
            </a:extLst>
          </p:cNvPr>
          <p:cNvGrpSpPr/>
          <p:nvPr/>
        </p:nvGrpSpPr>
        <p:grpSpPr>
          <a:xfrm>
            <a:off x="4582937" y="1161749"/>
            <a:ext cx="3124445" cy="575077"/>
            <a:chOff x="6383349" y="1114785"/>
            <a:chExt cx="3124445" cy="575077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7AE9E54-AA7B-8522-C96D-4CB361085E16}"/>
                </a:ext>
              </a:extLst>
            </p:cNvPr>
            <p:cNvSpPr/>
            <p:nvPr/>
          </p:nvSpPr>
          <p:spPr>
            <a:xfrm>
              <a:off x="6383349" y="1114785"/>
              <a:ext cx="3124445" cy="575077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E2E5EF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2AF149C-BC2F-B1B3-34F0-F12F44F91868}"/>
                </a:ext>
              </a:extLst>
            </p:cNvPr>
            <p:cNvSpPr/>
            <p:nvPr/>
          </p:nvSpPr>
          <p:spPr>
            <a:xfrm>
              <a:off x="6611949" y="1181140"/>
              <a:ext cx="2103120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E276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£500,000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0EE09-C000-94BA-F035-48360DF73038}"/>
                </a:ext>
              </a:extLst>
            </p:cNvPr>
            <p:cNvSpPr/>
            <p:nvPr/>
          </p:nvSpPr>
          <p:spPr>
            <a:xfrm>
              <a:off x="8092441" y="1145600"/>
              <a:ext cx="1415353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Promised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EBCC1CA-7490-B50D-DDAC-FF032D60DC71}"/>
              </a:ext>
            </a:extLst>
          </p:cNvPr>
          <p:cNvSpPr txBox="1"/>
          <p:nvPr/>
        </p:nvSpPr>
        <p:spPr>
          <a:xfrm>
            <a:off x="361090" y="589328"/>
            <a:ext cx="11469820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Catalyst's price of entry: Tuckwell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personally guarantees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loan and the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house he lives in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2679B4F-D71C-E464-C4E7-381FD03D1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" y="998611"/>
            <a:ext cx="4048700" cy="585938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311FA32-8F84-CAC4-D607-ED1F26A1072B}"/>
              </a:ext>
            </a:extLst>
          </p:cNvPr>
          <p:cNvSpPr/>
          <p:nvPr/>
        </p:nvSpPr>
        <p:spPr>
          <a:xfrm>
            <a:off x="3608437" y="6548285"/>
            <a:ext cx="373626" cy="2743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BC441019-61CD-6631-D3FF-93B93EB3B382}"/>
              </a:ext>
            </a:extLst>
          </p:cNvPr>
          <p:cNvSpPr/>
          <p:nvPr/>
        </p:nvSpPr>
        <p:spPr>
          <a:xfrm>
            <a:off x="4281567" y="2453356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27–29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190E2639-4208-0F51-5C89-0C7B273D2CEA}"/>
              </a:ext>
            </a:extLst>
          </p:cNvPr>
          <p:cNvSpPr/>
          <p:nvPr/>
        </p:nvSpPr>
        <p:spPr>
          <a:xfrm flipH="1">
            <a:off x="6491573" y="5200436"/>
            <a:ext cx="0" cy="1076095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24876267-A75D-96AD-2F21-0385C6FF7AC2}"/>
              </a:ext>
            </a:extLst>
          </p:cNvPr>
          <p:cNvSpPr/>
          <p:nvPr/>
        </p:nvSpPr>
        <p:spPr>
          <a:xfrm>
            <a:off x="6409277" y="6183262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BE1037C-0B31-FBC0-EA97-C987CEC42733}"/>
              </a:ext>
            </a:extLst>
          </p:cNvPr>
          <p:cNvGrpSpPr/>
          <p:nvPr/>
        </p:nvGrpSpPr>
        <p:grpSpPr>
          <a:xfrm>
            <a:off x="6913768" y="5861791"/>
            <a:ext cx="4917137" cy="804890"/>
            <a:chOff x="4171950" y="5895901"/>
            <a:chExt cx="5112772" cy="804890"/>
          </a:xfrm>
        </p:grpSpPr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9697E96F-D706-919F-B927-5D16E9666B7A}"/>
                </a:ext>
              </a:extLst>
            </p:cNvPr>
            <p:cNvSpPr/>
            <p:nvPr/>
          </p:nvSpPr>
          <p:spPr>
            <a:xfrm>
              <a:off x="4171950" y="5962115"/>
              <a:ext cx="5112772" cy="7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Text 24">
              <a:extLst>
                <a:ext uri="{FF2B5EF4-FFF2-40B4-BE49-F238E27FC236}">
                  <a16:creationId xmlns:a16="http://schemas.microsoft.com/office/drawing/2014/main" id="{63F296AF-42C0-61F8-7BF7-AA7CE39EB78D}"/>
                </a:ext>
              </a:extLst>
            </p:cNvPr>
            <p:cNvSpPr/>
            <p:nvPr/>
          </p:nvSpPr>
          <p:spPr>
            <a:xfrm>
              <a:off x="6813810" y="6310641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tx2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£0</a:t>
              </a:r>
              <a:endPara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F8F1000-20F1-DED6-2AB8-B299EA726E4D}"/>
                </a:ext>
              </a:extLst>
            </p:cNvPr>
            <p:cNvGrpSpPr/>
            <p:nvPr/>
          </p:nvGrpSpPr>
          <p:grpSpPr>
            <a:xfrm>
              <a:off x="4360049" y="5895901"/>
              <a:ext cx="4858239" cy="804890"/>
              <a:chOff x="4319190" y="4901177"/>
              <a:chExt cx="4858239" cy="1201936"/>
            </a:xfrm>
          </p:grpSpPr>
          <p:sp>
            <p:nvSpPr>
              <p:cNvPr id="82" name="Text 23">
                <a:extLst>
                  <a:ext uri="{FF2B5EF4-FFF2-40B4-BE49-F238E27FC236}">
                    <a16:creationId xmlns:a16="http://schemas.microsoft.com/office/drawing/2014/main" id="{6C534AC7-81A2-1CC6-F59C-01229C1E6BCB}"/>
                  </a:ext>
                </a:extLst>
              </p:cNvPr>
              <p:cNvSpPr/>
              <p:nvPr/>
            </p:nvSpPr>
            <p:spPr>
              <a:xfrm>
                <a:off x="4319190" y="4901177"/>
                <a:ext cx="4858239" cy="48005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Catalyst demands repayment</a:t>
                </a:r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4617D14-60B7-E4E0-8ECE-0281D3B7B700}"/>
                  </a:ext>
                </a:extLst>
              </p:cNvPr>
              <p:cNvSpPr txBox="1"/>
              <p:nvPr/>
            </p:nvSpPr>
            <p:spPr>
              <a:xfrm>
                <a:off x="4319190" y="5413712"/>
                <a:ext cx="2348860" cy="689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i="1" dirty="0">
                    <a:solidFill>
                      <a:srgbClr val="FF0000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VTTL defaults</a:t>
                </a:r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DF3870F-10BC-3033-8750-51EBC536AD1B}"/>
              </a:ext>
            </a:extLst>
          </p:cNvPr>
          <p:cNvGrpSpPr/>
          <p:nvPr/>
        </p:nvGrpSpPr>
        <p:grpSpPr>
          <a:xfrm>
            <a:off x="6913768" y="4421418"/>
            <a:ext cx="4917137" cy="1252902"/>
            <a:chOff x="6913768" y="4361130"/>
            <a:chExt cx="5112772" cy="1252902"/>
          </a:xfrm>
        </p:grpSpPr>
        <p:sp>
          <p:nvSpPr>
            <p:cNvPr id="94" name="Shape 22">
              <a:extLst>
                <a:ext uri="{FF2B5EF4-FFF2-40B4-BE49-F238E27FC236}">
                  <a16:creationId xmlns:a16="http://schemas.microsoft.com/office/drawing/2014/main" id="{944EC4DC-1C3F-E97F-B5FB-BE0BFE1D3C1B}"/>
                </a:ext>
              </a:extLst>
            </p:cNvPr>
            <p:cNvSpPr/>
            <p:nvPr/>
          </p:nvSpPr>
          <p:spPr>
            <a:xfrm>
              <a:off x="6913768" y="4361130"/>
              <a:ext cx="5112772" cy="125290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 18">
              <a:extLst>
                <a:ext uri="{FF2B5EF4-FFF2-40B4-BE49-F238E27FC236}">
                  <a16:creationId xmlns:a16="http://schemas.microsoft.com/office/drawing/2014/main" id="{E3B77304-F6F3-CAD0-68FB-A32BAA70FF9F}"/>
                </a:ext>
              </a:extLst>
            </p:cNvPr>
            <p:cNvSpPr/>
            <p:nvPr/>
          </p:nvSpPr>
          <p:spPr>
            <a:xfrm>
              <a:off x="6949028" y="4406575"/>
              <a:ext cx="4887134" cy="8543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Vanguard pulls out; </a:t>
              </a:r>
              <a:b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Catalyst goes quiet;</a:t>
              </a:r>
              <a:b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then pays once more with MoU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19">
              <a:extLst>
                <a:ext uri="{FF2B5EF4-FFF2-40B4-BE49-F238E27FC236}">
                  <a16:creationId xmlns:a16="http://schemas.microsoft.com/office/drawing/2014/main" id="{5249124E-2B24-4984-29A9-685C8D5478A0}"/>
                </a:ext>
              </a:extLst>
            </p:cNvPr>
            <p:cNvSpPr/>
            <p:nvPr/>
          </p:nvSpPr>
          <p:spPr>
            <a:xfrm>
              <a:off x="9580695" y="4638791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£30,000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D64D90-48BD-BC7C-9436-987C41BA6B0C}"/>
              </a:ext>
            </a:extLst>
          </p:cNvPr>
          <p:cNvGrpSpPr/>
          <p:nvPr/>
        </p:nvGrpSpPr>
        <p:grpSpPr>
          <a:xfrm>
            <a:off x="6894341" y="3266036"/>
            <a:ext cx="4917137" cy="921446"/>
            <a:chOff x="6913768" y="4361130"/>
            <a:chExt cx="5112772" cy="921446"/>
          </a:xfrm>
        </p:grpSpPr>
        <p:sp>
          <p:nvSpPr>
            <p:cNvPr id="99" name="Shape 22">
              <a:extLst>
                <a:ext uri="{FF2B5EF4-FFF2-40B4-BE49-F238E27FC236}">
                  <a16:creationId xmlns:a16="http://schemas.microsoft.com/office/drawing/2014/main" id="{26B6403A-87AA-655E-EACF-4A306C09F24D}"/>
                </a:ext>
              </a:extLst>
            </p:cNvPr>
            <p:cNvSpPr/>
            <p:nvPr/>
          </p:nvSpPr>
          <p:spPr>
            <a:xfrm>
              <a:off x="6913768" y="4361130"/>
              <a:ext cx="5112772" cy="921446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Text 18">
              <a:extLst>
                <a:ext uri="{FF2B5EF4-FFF2-40B4-BE49-F238E27FC236}">
                  <a16:creationId xmlns:a16="http://schemas.microsoft.com/office/drawing/2014/main" id="{ABA20279-CDA5-3DF8-0AB9-00576C262EFE}"/>
                </a:ext>
              </a:extLst>
            </p:cNvPr>
            <p:cNvSpPr/>
            <p:nvPr/>
          </p:nvSpPr>
          <p:spPr>
            <a:xfrm>
              <a:off x="6949029" y="4406575"/>
              <a:ext cx="4636751" cy="8543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Tuckwell begs; Catalyst wires part-payment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 19">
              <a:extLst>
                <a:ext uri="{FF2B5EF4-FFF2-40B4-BE49-F238E27FC236}">
                  <a16:creationId xmlns:a16="http://schemas.microsoft.com/office/drawing/2014/main" id="{6A9D8A95-A7DB-466B-A3F1-FA7506CD44FD}"/>
                </a:ext>
              </a:extLst>
            </p:cNvPr>
            <p:cNvSpPr/>
            <p:nvPr/>
          </p:nvSpPr>
          <p:spPr>
            <a:xfrm>
              <a:off x="9550413" y="4844279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£50,000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6" name="Shape 14">
            <a:extLst>
              <a:ext uri="{FF2B5EF4-FFF2-40B4-BE49-F238E27FC236}">
                <a16:creationId xmlns:a16="http://schemas.microsoft.com/office/drawing/2014/main" id="{1EBFD94E-62DF-5B36-EB8B-64A89F6353D0}"/>
              </a:ext>
            </a:extLst>
          </p:cNvPr>
          <p:cNvSpPr/>
          <p:nvPr/>
        </p:nvSpPr>
        <p:spPr>
          <a:xfrm>
            <a:off x="6409277" y="5118140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14">
            <a:extLst>
              <a:ext uri="{FF2B5EF4-FFF2-40B4-BE49-F238E27FC236}">
                <a16:creationId xmlns:a16="http://schemas.microsoft.com/office/drawing/2014/main" id="{F0EF73DC-D509-133D-E1AE-D60CF8439D84}"/>
              </a:ext>
            </a:extLst>
          </p:cNvPr>
          <p:cNvSpPr/>
          <p:nvPr/>
        </p:nvSpPr>
        <p:spPr>
          <a:xfrm>
            <a:off x="6409277" y="3763713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14">
            <a:extLst>
              <a:ext uri="{FF2B5EF4-FFF2-40B4-BE49-F238E27FC236}">
                <a16:creationId xmlns:a16="http://schemas.microsoft.com/office/drawing/2014/main" id="{CE0CB9B0-C347-CC8F-2BA3-D2BA6793BAEC}"/>
              </a:ext>
            </a:extLst>
          </p:cNvPr>
          <p:cNvSpPr/>
          <p:nvPr/>
        </p:nvSpPr>
        <p:spPr>
          <a:xfrm>
            <a:off x="6409277" y="2560320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816F3143-EE8D-A322-EE2C-5C335E83B0C5}"/>
              </a:ext>
            </a:extLst>
          </p:cNvPr>
          <p:cNvSpPr/>
          <p:nvPr/>
        </p:nvSpPr>
        <p:spPr>
          <a:xfrm>
            <a:off x="4281567" y="3657934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29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FCD61AD8-34A2-05DB-A13D-936A30B328F7}"/>
              </a:ext>
            </a:extLst>
          </p:cNvPr>
          <p:cNvSpPr/>
          <p:nvPr/>
        </p:nvSpPr>
        <p:spPr>
          <a:xfrm>
            <a:off x="4281567" y="5094657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Jul-Aug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 4">
            <a:extLst>
              <a:ext uri="{FF2B5EF4-FFF2-40B4-BE49-F238E27FC236}">
                <a16:creationId xmlns:a16="http://schemas.microsoft.com/office/drawing/2014/main" id="{122CDFFF-8858-4D11-F6F5-CE9A943B23C0}"/>
              </a:ext>
            </a:extLst>
          </p:cNvPr>
          <p:cNvSpPr/>
          <p:nvPr/>
        </p:nvSpPr>
        <p:spPr>
          <a:xfrm>
            <a:off x="4281567" y="6061514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4991439-6E5F-50A7-7CBA-C122D724FA30}"/>
              </a:ext>
            </a:extLst>
          </p:cNvPr>
          <p:cNvGrpSpPr/>
          <p:nvPr/>
        </p:nvGrpSpPr>
        <p:grpSpPr>
          <a:xfrm>
            <a:off x="6894341" y="2100418"/>
            <a:ext cx="4917137" cy="921446"/>
            <a:chOff x="6894341" y="2331527"/>
            <a:chExt cx="5112772" cy="92144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B03566BD-D801-03F2-36EB-2319963DEEBF}"/>
                </a:ext>
              </a:extLst>
            </p:cNvPr>
            <p:cNvGrpSpPr/>
            <p:nvPr/>
          </p:nvGrpSpPr>
          <p:grpSpPr>
            <a:xfrm>
              <a:off x="6894341" y="2331527"/>
              <a:ext cx="5112772" cy="921446"/>
              <a:chOff x="6913768" y="4361130"/>
              <a:chExt cx="5112772" cy="921446"/>
            </a:xfrm>
          </p:grpSpPr>
          <p:sp>
            <p:nvSpPr>
              <p:cNvPr id="103" name="Shape 22">
                <a:extLst>
                  <a:ext uri="{FF2B5EF4-FFF2-40B4-BE49-F238E27FC236}">
                    <a16:creationId xmlns:a16="http://schemas.microsoft.com/office/drawing/2014/main" id="{64AC1341-3993-5EC1-AAC4-80DE831B0C50}"/>
                  </a:ext>
                </a:extLst>
              </p:cNvPr>
              <p:cNvSpPr/>
              <p:nvPr/>
            </p:nvSpPr>
            <p:spPr>
              <a:xfrm>
                <a:off x="6913768" y="4361130"/>
                <a:ext cx="5112772" cy="921446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rgbClr val="E2E5EF"/>
                </a:solidFill>
                <a:prstDash val="solid"/>
              </a:ln>
            </p:spPr>
            <p:txBody>
              <a:bodyPr/>
              <a:lstStyle/>
              <a:p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Text 18">
                <a:extLst>
                  <a:ext uri="{FF2B5EF4-FFF2-40B4-BE49-F238E27FC236}">
                    <a16:creationId xmlns:a16="http://schemas.microsoft.com/office/drawing/2014/main" id="{D578C070-074D-A657-FB33-B613A20A26CA}"/>
                  </a:ext>
                </a:extLst>
              </p:cNvPr>
              <p:cNvSpPr/>
              <p:nvPr/>
            </p:nvSpPr>
            <p:spPr>
              <a:xfrm>
                <a:off x="6949029" y="4406575"/>
                <a:ext cx="4636751" cy="854372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Guarantee signed;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House on the line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724FCC72-2584-F976-C49E-FBABEEA5CAB6}"/>
                </a:ext>
              </a:extLst>
            </p:cNvPr>
            <p:cNvSpPr/>
            <p:nvPr/>
          </p:nvSpPr>
          <p:spPr>
            <a:xfrm>
              <a:off x="9470926" y="2684465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tx2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£0</a:t>
              </a:r>
              <a:endPara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D794D14-B0A8-03FF-03CD-DEBC8A5AD467}"/>
              </a:ext>
            </a:extLst>
          </p:cNvPr>
          <p:cNvGrpSpPr/>
          <p:nvPr/>
        </p:nvGrpSpPr>
        <p:grpSpPr>
          <a:xfrm>
            <a:off x="8545337" y="1161749"/>
            <a:ext cx="3124445" cy="575077"/>
            <a:chOff x="6383349" y="1114785"/>
            <a:chExt cx="3124445" cy="575077"/>
          </a:xfrm>
        </p:grpSpPr>
        <p:sp>
          <p:nvSpPr>
            <p:cNvPr id="121" name="Shape 3">
              <a:extLst>
                <a:ext uri="{FF2B5EF4-FFF2-40B4-BE49-F238E27FC236}">
                  <a16:creationId xmlns:a16="http://schemas.microsoft.com/office/drawing/2014/main" id="{8BC9170E-721F-1600-24F4-0B9590846DAE}"/>
                </a:ext>
              </a:extLst>
            </p:cNvPr>
            <p:cNvSpPr/>
            <p:nvPr/>
          </p:nvSpPr>
          <p:spPr>
            <a:xfrm>
              <a:off x="6383349" y="1114785"/>
              <a:ext cx="3124445" cy="575077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E2E5EF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 4">
              <a:extLst>
                <a:ext uri="{FF2B5EF4-FFF2-40B4-BE49-F238E27FC236}">
                  <a16:creationId xmlns:a16="http://schemas.microsoft.com/office/drawing/2014/main" id="{40AC78AB-435F-9A1D-3490-5772399E6E40}"/>
                </a:ext>
              </a:extLst>
            </p:cNvPr>
            <p:cNvSpPr/>
            <p:nvPr/>
          </p:nvSpPr>
          <p:spPr>
            <a:xfrm>
              <a:off x="6611949" y="1181140"/>
              <a:ext cx="2103120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E276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£80,000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 5">
              <a:extLst>
                <a:ext uri="{FF2B5EF4-FFF2-40B4-BE49-F238E27FC236}">
                  <a16:creationId xmlns:a16="http://schemas.microsoft.com/office/drawing/2014/main" id="{FBDB7792-ECEC-E656-533D-467508013B5C}"/>
                </a:ext>
              </a:extLst>
            </p:cNvPr>
            <p:cNvSpPr/>
            <p:nvPr/>
          </p:nvSpPr>
          <p:spPr>
            <a:xfrm>
              <a:off x="8092441" y="1145600"/>
              <a:ext cx="1415353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Paid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49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6C3D5-0050-ED18-B017-35BF50CBFB7C}"/>
              </a:ext>
            </a:extLst>
          </p:cNvPr>
          <p:cNvSpPr txBox="1"/>
          <p:nvPr/>
        </p:nvSpPr>
        <p:spPr>
          <a:xfrm>
            <a:off x="3565916" y="2674375"/>
            <a:ext cx="5060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i="1" dirty="0"/>
              <a:t>Two Weeks Later</a:t>
            </a:r>
          </a:p>
        </p:txBody>
      </p:sp>
      <p:pic>
        <p:nvPicPr>
          <p:cNvPr id="5" name="Picture 4" descr="Two Weeks Later | SpongeBob Time Card #235">
            <a:extLst>
              <a:ext uri="{FF2B5EF4-FFF2-40B4-BE49-F238E27FC236}">
                <a16:creationId xmlns:a16="http://schemas.microsoft.com/office/drawing/2014/main" id="{F22DB3A7-9C4E-2293-73B8-79B586DD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803A-4FCB-4B68-88E0-DE3A65F8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7262616-8912-B89A-3D00-6465186C3CB7}"/>
              </a:ext>
            </a:extLst>
          </p:cNvPr>
          <p:cNvSpPr/>
          <p:nvPr/>
        </p:nvSpPr>
        <p:spPr>
          <a:xfrm>
            <a:off x="4431323" y="1939332"/>
            <a:ext cx="7528783" cy="4883273"/>
          </a:xfrm>
          <a:prstGeom prst="roundRect">
            <a:avLst>
              <a:gd name="adj" fmla="val 3704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0" name="Shape 9">
            <a:extLst>
              <a:ext uri="{FF2B5EF4-FFF2-40B4-BE49-F238E27FC236}">
                <a16:creationId xmlns:a16="http://schemas.microsoft.com/office/drawing/2014/main" id="{8440C56A-A09A-3C4D-2BE9-0BE9D83423B1}"/>
              </a:ext>
            </a:extLst>
          </p:cNvPr>
          <p:cNvSpPr/>
          <p:nvPr/>
        </p:nvSpPr>
        <p:spPr>
          <a:xfrm flipH="1">
            <a:off x="6491573" y="2574795"/>
            <a:ext cx="0" cy="138248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9">
            <a:extLst>
              <a:ext uri="{FF2B5EF4-FFF2-40B4-BE49-F238E27FC236}">
                <a16:creationId xmlns:a16="http://schemas.microsoft.com/office/drawing/2014/main" id="{1E585426-0D07-ABB7-37A9-C74D153E76BC}"/>
              </a:ext>
            </a:extLst>
          </p:cNvPr>
          <p:cNvSpPr/>
          <p:nvPr/>
        </p:nvSpPr>
        <p:spPr>
          <a:xfrm flipH="1">
            <a:off x="6491573" y="3817954"/>
            <a:ext cx="0" cy="138248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3B10C9-A244-F060-5F2B-75AC15105A8B}"/>
              </a:ext>
            </a:extLst>
          </p:cNvPr>
          <p:cNvSpPr/>
          <p:nvPr/>
        </p:nvSpPr>
        <p:spPr>
          <a:xfrm>
            <a:off x="206477" y="133412"/>
            <a:ext cx="11064240" cy="44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Money Trail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284541-FD5E-E18E-24E8-B1F2DB3ECFAC}"/>
              </a:ext>
            </a:extLst>
          </p:cNvPr>
          <p:cNvGrpSpPr/>
          <p:nvPr/>
        </p:nvGrpSpPr>
        <p:grpSpPr>
          <a:xfrm>
            <a:off x="4582937" y="1161749"/>
            <a:ext cx="3124445" cy="575077"/>
            <a:chOff x="6383349" y="1114785"/>
            <a:chExt cx="3124445" cy="575077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EDC679E-2743-7BF9-8E41-F88156EC9012}"/>
                </a:ext>
              </a:extLst>
            </p:cNvPr>
            <p:cNvSpPr/>
            <p:nvPr/>
          </p:nvSpPr>
          <p:spPr>
            <a:xfrm>
              <a:off x="6383349" y="1114785"/>
              <a:ext cx="3124445" cy="575077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E2E5EF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72CEEF4-B7B1-B81B-21FA-5B58119A119F}"/>
                </a:ext>
              </a:extLst>
            </p:cNvPr>
            <p:cNvSpPr/>
            <p:nvPr/>
          </p:nvSpPr>
          <p:spPr>
            <a:xfrm>
              <a:off x="6611949" y="1181140"/>
              <a:ext cx="2103120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E276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£500,000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5EDFE2E-A01B-AD29-E1D2-8B9A1CB4BDC6}"/>
                </a:ext>
              </a:extLst>
            </p:cNvPr>
            <p:cNvSpPr/>
            <p:nvPr/>
          </p:nvSpPr>
          <p:spPr>
            <a:xfrm>
              <a:off x="8092441" y="1145600"/>
              <a:ext cx="1415353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Promised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A93AB86-A13A-37F6-DD1E-BA4B3F8FE9AE}"/>
              </a:ext>
            </a:extLst>
          </p:cNvPr>
          <p:cNvSpPr txBox="1"/>
          <p:nvPr/>
        </p:nvSpPr>
        <p:spPr>
          <a:xfrm>
            <a:off x="361090" y="589328"/>
            <a:ext cx="11469820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Catalyst's price of entry: Tuckwell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personally guarantees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loan and the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house he lives in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4D7A78-C17F-396F-AAB5-B999F395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" y="998611"/>
            <a:ext cx="4048700" cy="585938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58802D2-652B-A78C-2505-CF38F315B29F}"/>
              </a:ext>
            </a:extLst>
          </p:cNvPr>
          <p:cNvSpPr/>
          <p:nvPr/>
        </p:nvSpPr>
        <p:spPr>
          <a:xfrm>
            <a:off x="3608437" y="6548285"/>
            <a:ext cx="373626" cy="2743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99294992-D3E7-FBB2-5163-57E390CA92EA}"/>
              </a:ext>
            </a:extLst>
          </p:cNvPr>
          <p:cNvSpPr/>
          <p:nvPr/>
        </p:nvSpPr>
        <p:spPr>
          <a:xfrm>
            <a:off x="4281567" y="2453356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27–29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F8D7D83B-FD29-BB73-A208-1A0AD5C8E6F7}"/>
              </a:ext>
            </a:extLst>
          </p:cNvPr>
          <p:cNvSpPr/>
          <p:nvPr/>
        </p:nvSpPr>
        <p:spPr>
          <a:xfrm flipH="1">
            <a:off x="6491573" y="5200436"/>
            <a:ext cx="0" cy="1076095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28E3CEDE-0197-F7A4-6AD9-D73EF645774F}"/>
              </a:ext>
            </a:extLst>
          </p:cNvPr>
          <p:cNvSpPr/>
          <p:nvPr/>
        </p:nvSpPr>
        <p:spPr>
          <a:xfrm>
            <a:off x="6409277" y="6183262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3C8DD87-F8C8-0B6D-BEED-E691D6A6044F}"/>
              </a:ext>
            </a:extLst>
          </p:cNvPr>
          <p:cNvGrpSpPr/>
          <p:nvPr/>
        </p:nvGrpSpPr>
        <p:grpSpPr>
          <a:xfrm>
            <a:off x="6913768" y="5861791"/>
            <a:ext cx="4917137" cy="804890"/>
            <a:chOff x="4171950" y="5895901"/>
            <a:chExt cx="5112772" cy="804890"/>
          </a:xfrm>
        </p:grpSpPr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BC47666E-5601-3FDC-C870-C08A6B2C781D}"/>
                </a:ext>
              </a:extLst>
            </p:cNvPr>
            <p:cNvSpPr/>
            <p:nvPr/>
          </p:nvSpPr>
          <p:spPr>
            <a:xfrm>
              <a:off x="4171950" y="5962115"/>
              <a:ext cx="5112772" cy="72333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Text 24">
              <a:extLst>
                <a:ext uri="{FF2B5EF4-FFF2-40B4-BE49-F238E27FC236}">
                  <a16:creationId xmlns:a16="http://schemas.microsoft.com/office/drawing/2014/main" id="{B681BCC2-8C03-ED95-1C56-2A43E4838E21}"/>
                </a:ext>
              </a:extLst>
            </p:cNvPr>
            <p:cNvSpPr/>
            <p:nvPr/>
          </p:nvSpPr>
          <p:spPr>
            <a:xfrm>
              <a:off x="6813810" y="6310641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tx2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£0</a:t>
              </a:r>
              <a:endPara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B402B64-A7B5-07EB-16D1-9B3418685CFD}"/>
                </a:ext>
              </a:extLst>
            </p:cNvPr>
            <p:cNvGrpSpPr/>
            <p:nvPr/>
          </p:nvGrpSpPr>
          <p:grpSpPr>
            <a:xfrm>
              <a:off x="4360049" y="5895901"/>
              <a:ext cx="4858239" cy="804890"/>
              <a:chOff x="4319190" y="4901177"/>
              <a:chExt cx="4858239" cy="1201936"/>
            </a:xfrm>
          </p:grpSpPr>
          <p:sp>
            <p:nvSpPr>
              <p:cNvPr id="82" name="Text 23">
                <a:extLst>
                  <a:ext uri="{FF2B5EF4-FFF2-40B4-BE49-F238E27FC236}">
                    <a16:creationId xmlns:a16="http://schemas.microsoft.com/office/drawing/2014/main" id="{588BF50B-29AD-E730-83A3-CB6A021CBDAB}"/>
                  </a:ext>
                </a:extLst>
              </p:cNvPr>
              <p:cNvSpPr/>
              <p:nvPr/>
            </p:nvSpPr>
            <p:spPr>
              <a:xfrm>
                <a:off x="4319190" y="4901177"/>
                <a:ext cx="4858239" cy="48005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Catalyst demands repayment</a:t>
                </a:r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6C5CD4D-1067-ED1F-7973-45747D15C51A}"/>
                  </a:ext>
                </a:extLst>
              </p:cNvPr>
              <p:cNvSpPr txBox="1"/>
              <p:nvPr/>
            </p:nvSpPr>
            <p:spPr>
              <a:xfrm>
                <a:off x="4319190" y="5413712"/>
                <a:ext cx="2348860" cy="689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i="1" dirty="0">
                    <a:solidFill>
                      <a:srgbClr val="FF0000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VTTL defaults</a:t>
                </a:r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E5C2C7-B5C2-0517-9EB2-72ADCE56F850}"/>
              </a:ext>
            </a:extLst>
          </p:cNvPr>
          <p:cNvGrpSpPr/>
          <p:nvPr/>
        </p:nvGrpSpPr>
        <p:grpSpPr>
          <a:xfrm>
            <a:off x="6913768" y="4421418"/>
            <a:ext cx="4917137" cy="1252902"/>
            <a:chOff x="6913768" y="4361130"/>
            <a:chExt cx="5112772" cy="1252902"/>
          </a:xfrm>
        </p:grpSpPr>
        <p:sp>
          <p:nvSpPr>
            <p:cNvPr id="94" name="Shape 22">
              <a:extLst>
                <a:ext uri="{FF2B5EF4-FFF2-40B4-BE49-F238E27FC236}">
                  <a16:creationId xmlns:a16="http://schemas.microsoft.com/office/drawing/2014/main" id="{F7BFC466-5DE6-75CB-CDB8-15B02DAF1293}"/>
                </a:ext>
              </a:extLst>
            </p:cNvPr>
            <p:cNvSpPr/>
            <p:nvPr/>
          </p:nvSpPr>
          <p:spPr>
            <a:xfrm>
              <a:off x="6913768" y="4361130"/>
              <a:ext cx="5112772" cy="1252902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 18">
              <a:extLst>
                <a:ext uri="{FF2B5EF4-FFF2-40B4-BE49-F238E27FC236}">
                  <a16:creationId xmlns:a16="http://schemas.microsoft.com/office/drawing/2014/main" id="{CAC56E70-FDA1-35DF-8B3F-17B709DC2EEB}"/>
                </a:ext>
              </a:extLst>
            </p:cNvPr>
            <p:cNvSpPr/>
            <p:nvPr/>
          </p:nvSpPr>
          <p:spPr>
            <a:xfrm>
              <a:off x="6949028" y="4406575"/>
              <a:ext cx="4887134" cy="8543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Vanguard pulls out; </a:t>
              </a:r>
              <a:b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Catalyst goes quiet;</a:t>
              </a:r>
              <a:b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then pays once more with MoU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19">
              <a:extLst>
                <a:ext uri="{FF2B5EF4-FFF2-40B4-BE49-F238E27FC236}">
                  <a16:creationId xmlns:a16="http://schemas.microsoft.com/office/drawing/2014/main" id="{7FF13184-E808-03B3-D285-453BFB25DBC7}"/>
                </a:ext>
              </a:extLst>
            </p:cNvPr>
            <p:cNvSpPr/>
            <p:nvPr/>
          </p:nvSpPr>
          <p:spPr>
            <a:xfrm>
              <a:off x="9580695" y="4638791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£30,000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7B68DC0-C67E-AB60-B6A2-92C1528EE48D}"/>
              </a:ext>
            </a:extLst>
          </p:cNvPr>
          <p:cNvGrpSpPr/>
          <p:nvPr/>
        </p:nvGrpSpPr>
        <p:grpSpPr>
          <a:xfrm>
            <a:off x="6894341" y="3266036"/>
            <a:ext cx="4917137" cy="921446"/>
            <a:chOff x="6913768" y="4361130"/>
            <a:chExt cx="5112772" cy="921446"/>
          </a:xfrm>
        </p:grpSpPr>
        <p:sp>
          <p:nvSpPr>
            <p:cNvPr id="99" name="Shape 22">
              <a:extLst>
                <a:ext uri="{FF2B5EF4-FFF2-40B4-BE49-F238E27FC236}">
                  <a16:creationId xmlns:a16="http://schemas.microsoft.com/office/drawing/2014/main" id="{045C089D-BECD-26B9-E4F9-E0930462ABDB}"/>
                </a:ext>
              </a:extLst>
            </p:cNvPr>
            <p:cNvSpPr/>
            <p:nvPr/>
          </p:nvSpPr>
          <p:spPr>
            <a:xfrm>
              <a:off x="6913768" y="4361130"/>
              <a:ext cx="5112772" cy="92144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2E5EF"/>
              </a:solidFill>
              <a:prstDash val="solid"/>
            </a:ln>
          </p:spPr>
          <p:txBody>
            <a:bodyPr/>
            <a:lstStyle/>
            <a:p>
              <a:endPara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Text 18">
              <a:extLst>
                <a:ext uri="{FF2B5EF4-FFF2-40B4-BE49-F238E27FC236}">
                  <a16:creationId xmlns:a16="http://schemas.microsoft.com/office/drawing/2014/main" id="{9F971DD4-6632-4FE7-EAA5-FF1A0760C168}"/>
                </a:ext>
              </a:extLst>
            </p:cNvPr>
            <p:cNvSpPr/>
            <p:nvPr/>
          </p:nvSpPr>
          <p:spPr>
            <a:xfrm>
              <a:off x="6949029" y="4406575"/>
              <a:ext cx="4636751" cy="8543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Tuckwell begs; Catalyst wires part-payment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 19">
              <a:extLst>
                <a:ext uri="{FF2B5EF4-FFF2-40B4-BE49-F238E27FC236}">
                  <a16:creationId xmlns:a16="http://schemas.microsoft.com/office/drawing/2014/main" id="{68C45FDA-B998-89D6-754C-F59F32DCE13F}"/>
                </a:ext>
              </a:extLst>
            </p:cNvPr>
            <p:cNvSpPr/>
            <p:nvPr/>
          </p:nvSpPr>
          <p:spPr>
            <a:xfrm>
              <a:off x="9550413" y="4844279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£50,000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6" name="Shape 14">
            <a:extLst>
              <a:ext uri="{FF2B5EF4-FFF2-40B4-BE49-F238E27FC236}">
                <a16:creationId xmlns:a16="http://schemas.microsoft.com/office/drawing/2014/main" id="{46ED0CA5-38D4-3916-4054-D5D20E97CFE9}"/>
              </a:ext>
            </a:extLst>
          </p:cNvPr>
          <p:cNvSpPr/>
          <p:nvPr/>
        </p:nvSpPr>
        <p:spPr>
          <a:xfrm>
            <a:off x="6409277" y="5118140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14">
            <a:extLst>
              <a:ext uri="{FF2B5EF4-FFF2-40B4-BE49-F238E27FC236}">
                <a16:creationId xmlns:a16="http://schemas.microsoft.com/office/drawing/2014/main" id="{2856C51B-4D7C-9D45-E124-D287FFD254BA}"/>
              </a:ext>
            </a:extLst>
          </p:cNvPr>
          <p:cNvSpPr/>
          <p:nvPr/>
        </p:nvSpPr>
        <p:spPr>
          <a:xfrm>
            <a:off x="6409277" y="3763713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14">
            <a:extLst>
              <a:ext uri="{FF2B5EF4-FFF2-40B4-BE49-F238E27FC236}">
                <a16:creationId xmlns:a16="http://schemas.microsoft.com/office/drawing/2014/main" id="{9636DA80-BB22-D101-2EC6-261D5528A442}"/>
              </a:ext>
            </a:extLst>
          </p:cNvPr>
          <p:cNvSpPr/>
          <p:nvPr/>
        </p:nvSpPr>
        <p:spPr>
          <a:xfrm>
            <a:off x="6409277" y="2560320"/>
            <a:ext cx="164592" cy="164592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7CF5D784-EC00-4B79-EA33-04559CD22CD3}"/>
              </a:ext>
            </a:extLst>
          </p:cNvPr>
          <p:cNvSpPr/>
          <p:nvPr/>
        </p:nvSpPr>
        <p:spPr>
          <a:xfrm>
            <a:off x="4281567" y="3657934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29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4C784143-A9DB-2914-F2AE-43CC26CADAB5}"/>
              </a:ext>
            </a:extLst>
          </p:cNvPr>
          <p:cNvSpPr/>
          <p:nvPr/>
        </p:nvSpPr>
        <p:spPr>
          <a:xfrm>
            <a:off x="4281567" y="5094657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Jul-Aug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 4">
            <a:extLst>
              <a:ext uri="{FF2B5EF4-FFF2-40B4-BE49-F238E27FC236}">
                <a16:creationId xmlns:a16="http://schemas.microsoft.com/office/drawing/2014/main" id="{410816A9-6FF6-A8AB-F9D2-C10A76C0CDF6}"/>
              </a:ext>
            </a:extLst>
          </p:cNvPr>
          <p:cNvSpPr/>
          <p:nvPr/>
        </p:nvSpPr>
        <p:spPr>
          <a:xfrm>
            <a:off x="4281567" y="6061514"/>
            <a:ext cx="2548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 May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2016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57EBB93-1032-9DA6-73B3-D04D7627399D}"/>
              </a:ext>
            </a:extLst>
          </p:cNvPr>
          <p:cNvGrpSpPr/>
          <p:nvPr/>
        </p:nvGrpSpPr>
        <p:grpSpPr>
          <a:xfrm>
            <a:off x="6894341" y="2100418"/>
            <a:ext cx="4917137" cy="921446"/>
            <a:chOff x="6894341" y="2331527"/>
            <a:chExt cx="5112772" cy="92144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CE41586-B787-9781-2466-6DB8DD2F6C19}"/>
                </a:ext>
              </a:extLst>
            </p:cNvPr>
            <p:cNvGrpSpPr/>
            <p:nvPr/>
          </p:nvGrpSpPr>
          <p:grpSpPr>
            <a:xfrm>
              <a:off x="6894341" y="2331527"/>
              <a:ext cx="5112772" cy="921446"/>
              <a:chOff x="6913768" y="4361130"/>
              <a:chExt cx="5112772" cy="921446"/>
            </a:xfrm>
          </p:grpSpPr>
          <p:sp>
            <p:nvSpPr>
              <p:cNvPr id="103" name="Shape 22">
                <a:extLst>
                  <a:ext uri="{FF2B5EF4-FFF2-40B4-BE49-F238E27FC236}">
                    <a16:creationId xmlns:a16="http://schemas.microsoft.com/office/drawing/2014/main" id="{ABA7486B-852D-37E0-AF25-9CF8AECCFB27}"/>
                  </a:ext>
                </a:extLst>
              </p:cNvPr>
              <p:cNvSpPr/>
              <p:nvPr/>
            </p:nvSpPr>
            <p:spPr>
              <a:xfrm>
                <a:off x="6913768" y="4361130"/>
                <a:ext cx="5112772" cy="92144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rgbClr val="E2E5EF"/>
                </a:solidFill>
                <a:prstDash val="solid"/>
              </a:ln>
            </p:spPr>
            <p:txBody>
              <a:bodyPr/>
              <a:lstStyle/>
              <a:p>
                <a:endParaRPr lang="en-US" sz="2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Text 18">
                <a:extLst>
                  <a:ext uri="{FF2B5EF4-FFF2-40B4-BE49-F238E27FC236}">
                    <a16:creationId xmlns:a16="http://schemas.microsoft.com/office/drawing/2014/main" id="{7227C42E-CC99-5A29-75F4-31348441EE34}"/>
                  </a:ext>
                </a:extLst>
              </p:cNvPr>
              <p:cNvSpPr/>
              <p:nvPr/>
            </p:nvSpPr>
            <p:spPr>
              <a:xfrm>
                <a:off x="6949029" y="4406575"/>
                <a:ext cx="4636751" cy="854372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Guarantee signed;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555555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House on the line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7F155F8E-9F25-D27E-D592-8B955F98C84A}"/>
                </a:ext>
              </a:extLst>
            </p:cNvPr>
            <p:cNvSpPr/>
            <p:nvPr/>
          </p:nvSpPr>
          <p:spPr>
            <a:xfrm>
              <a:off x="9470926" y="2684465"/>
              <a:ext cx="236601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tx2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£0</a:t>
              </a:r>
              <a:endPara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F70E8E8-F5F7-7D77-8FF2-6FD3D8FFCCDB}"/>
              </a:ext>
            </a:extLst>
          </p:cNvPr>
          <p:cNvGrpSpPr/>
          <p:nvPr/>
        </p:nvGrpSpPr>
        <p:grpSpPr>
          <a:xfrm>
            <a:off x="8545337" y="1161749"/>
            <a:ext cx="3124445" cy="575077"/>
            <a:chOff x="6383349" y="1114785"/>
            <a:chExt cx="3124445" cy="575077"/>
          </a:xfrm>
        </p:grpSpPr>
        <p:sp>
          <p:nvSpPr>
            <p:cNvPr id="121" name="Shape 3">
              <a:extLst>
                <a:ext uri="{FF2B5EF4-FFF2-40B4-BE49-F238E27FC236}">
                  <a16:creationId xmlns:a16="http://schemas.microsoft.com/office/drawing/2014/main" id="{A6A3BA6F-FB0E-46AE-5315-204E91D656A2}"/>
                </a:ext>
              </a:extLst>
            </p:cNvPr>
            <p:cNvSpPr/>
            <p:nvPr/>
          </p:nvSpPr>
          <p:spPr>
            <a:xfrm>
              <a:off x="6383349" y="1114785"/>
              <a:ext cx="3124445" cy="575077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E2E5EF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 4">
              <a:extLst>
                <a:ext uri="{FF2B5EF4-FFF2-40B4-BE49-F238E27FC236}">
                  <a16:creationId xmlns:a16="http://schemas.microsoft.com/office/drawing/2014/main" id="{591BBFD6-0A39-F656-C279-3F057A6C420E}"/>
                </a:ext>
              </a:extLst>
            </p:cNvPr>
            <p:cNvSpPr/>
            <p:nvPr/>
          </p:nvSpPr>
          <p:spPr>
            <a:xfrm>
              <a:off x="6611949" y="1181140"/>
              <a:ext cx="2103120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E2761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£80,000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 5">
              <a:extLst>
                <a:ext uri="{FF2B5EF4-FFF2-40B4-BE49-F238E27FC236}">
                  <a16:creationId xmlns:a16="http://schemas.microsoft.com/office/drawing/2014/main" id="{2CB625FE-B340-0882-9140-6386FA1B3C5B}"/>
                </a:ext>
              </a:extLst>
            </p:cNvPr>
            <p:cNvSpPr/>
            <p:nvPr/>
          </p:nvSpPr>
          <p:spPr>
            <a:xfrm>
              <a:off x="8092441" y="1145600"/>
              <a:ext cx="1415353" cy="4423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Paid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748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/21/2023 - SpongeBob Voice - Reply Ali">
            <a:extLst>
              <a:ext uri="{FF2B5EF4-FFF2-40B4-BE49-F238E27FC236}">
                <a16:creationId xmlns:a16="http://schemas.microsoft.com/office/drawing/2014/main" id="{49143E60-B1B4-21B0-077F-F540A97E8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7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Homer Simpson backs into bushes [4000x4000] : r/MemeRestoration">
            <a:extLst>
              <a:ext uri="{FF2B5EF4-FFF2-40B4-BE49-F238E27FC236}">
                <a16:creationId xmlns:a16="http://schemas.microsoft.com/office/drawing/2014/main" id="{5E623596-1C1A-5095-52E0-A78ACAB71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1" y="1858244"/>
            <a:ext cx="3176741" cy="317674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B4A5165-1502-D45F-50C6-3ABD11719A63}"/>
              </a:ext>
            </a:extLst>
          </p:cNvPr>
          <p:cNvSpPr txBox="1"/>
          <p:nvPr/>
        </p:nvSpPr>
        <p:spPr>
          <a:xfrm>
            <a:off x="1" y="647395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schemeClr val="bg1">
                    <a:lumMod val="50000"/>
                  </a:schemeClr>
                </a:solidFill>
              </a:rPr>
              <a:t>Source: www.pinterest.com/pin/homer-simpson-backs-into-the-bushes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B21A3B3-BFBF-54A6-8C8C-1D92A7849C71}"/>
              </a:ext>
            </a:extLst>
          </p:cNvPr>
          <p:cNvGrpSpPr/>
          <p:nvPr/>
        </p:nvGrpSpPr>
        <p:grpSpPr>
          <a:xfrm>
            <a:off x="5378808" y="1525035"/>
            <a:ext cx="6582129" cy="1669794"/>
            <a:chOff x="4847871" y="541807"/>
            <a:chExt cx="6582129" cy="1669794"/>
          </a:xfrm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17985D3F-27AF-9F5B-C32F-DDD3FB364D81}"/>
                </a:ext>
              </a:extLst>
            </p:cNvPr>
            <p:cNvSpPr/>
            <p:nvPr/>
          </p:nvSpPr>
          <p:spPr>
            <a:xfrm rot="5400000">
              <a:off x="7304039" y="-1914361"/>
              <a:ext cx="1669794" cy="6582129"/>
            </a:xfrm>
            <a:prstGeom prst="wedgeRoundRectCallout">
              <a:avLst>
                <a:gd name="adj1" fmla="val -29903"/>
                <a:gd name="adj2" fmla="val 67278"/>
                <a:gd name="adj3" fmla="val 16667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8C26D345-7B08-B7F2-71CA-D3CAEAB780CA}"/>
                </a:ext>
              </a:extLst>
            </p:cNvPr>
            <p:cNvSpPr/>
            <p:nvPr/>
          </p:nvSpPr>
          <p:spPr>
            <a:xfrm>
              <a:off x="4956047" y="581530"/>
              <a:ext cx="635104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Catalyst is in Breach of Contract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E634A0F8-5253-11D8-BD27-0BECFDA7160C}"/>
                </a:ext>
              </a:extLst>
            </p:cNvPr>
            <p:cNvSpPr/>
            <p:nvPr/>
          </p:nvSpPr>
          <p:spPr>
            <a:xfrm>
              <a:off x="4946215" y="1014739"/>
              <a:ext cx="6351049" cy="10469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They promised £500,000 in the loan agreement</a:t>
              </a:r>
              <a:br>
                <a:rPr lang="en-US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en-US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yet disbursed only £80,000.</a:t>
              </a:r>
            </a:p>
            <a:p>
              <a:pPr algn="ctr"/>
              <a:r>
                <a:rPr lang="en-US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I am Payable only after receiving £500,000 in total!</a:t>
              </a:r>
            </a:p>
            <a:p>
              <a:pPr algn="ctr"/>
              <a:r>
                <a:rPr lang="en-US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So, I claim </a:t>
              </a:r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£7.6 million in damages</a:t>
              </a:r>
              <a:endPara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E03CE81-ABAA-0B16-2F18-4F10D5213CCE}"/>
              </a:ext>
            </a:extLst>
          </p:cNvPr>
          <p:cNvGrpSpPr/>
          <p:nvPr/>
        </p:nvGrpSpPr>
        <p:grpSpPr>
          <a:xfrm>
            <a:off x="5418137" y="3598938"/>
            <a:ext cx="6582129" cy="1444154"/>
            <a:chOff x="4847872" y="2458894"/>
            <a:chExt cx="6582129" cy="1669794"/>
          </a:xfrm>
        </p:grpSpPr>
        <p:sp>
          <p:nvSpPr>
            <p:cNvPr id="33" name="Speech Bubble: Rectangle with Corners Rounded 32">
              <a:extLst>
                <a:ext uri="{FF2B5EF4-FFF2-40B4-BE49-F238E27FC236}">
                  <a16:creationId xmlns:a16="http://schemas.microsoft.com/office/drawing/2014/main" id="{CE04CD84-4974-FCDE-2AE8-05CA989236A7}"/>
                </a:ext>
              </a:extLst>
            </p:cNvPr>
            <p:cNvSpPr/>
            <p:nvPr/>
          </p:nvSpPr>
          <p:spPr>
            <a:xfrm rot="5400000">
              <a:off x="7304040" y="2726"/>
              <a:ext cx="1669794" cy="6582129"/>
            </a:xfrm>
            <a:prstGeom prst="wedgeRoundRectCallout">
              <a:avLst>
                <a:gd name="adj1" fmla="val -29903"/>
                <a:gd name="adj2" fmla="val 67278"/>
                <a:gd name="adj3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1981BB8A-4FD6-438D-50F2-D8B6A4AB9491}"/>
                </a:ext>
              </a:extLst>
            </p:cNvPr>
            <p:cNvSpPr/>
            <p:nvPr/>
          </p:nvSpPr>
          <p:spPr>
            <a:xfrm>
              <a:off x="4956048" y="2498617"/>
              <a:ext cx="635104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My Liability is only Secondary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27AAB317-319D-DF37-A36E-F9DEE4339F44}"/>
                </a:ext>
              </a:extLst>
            </p:cNvPr>
            <p:cNvSpPr/>
            <p:nvPr/>
          </p:nvSpPr>
          <p:spPr>
            <a:xfrm>
              <a:off x="4946216" y="2931826"/>
              <a:ext cx="6351049" cy="10469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It comes into picture only when VTTL defaults.</a:t>
              </a:r>
            </a:p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Here Catalyst have made the breach of contract!</a:t>
              </a:r>
            </a:p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 NO PERSONAL Liability</a:t>
              </a:r>
              <a:endPara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8" name="Thought Bubble: Cloud 37">
            <a:extLst>
              <a:ext uri="{FF2B5EF4-FFF2-40B4-BE49-F238E27FC236}">
                <a16:creationId xmlns:a16="http://schemas.microsoft.com/office/drawing/2014/main" id="{F6D56387-2F9F-5824-8849-076BF53E6324}"/>
              </a:ext>
            </a:extLst>
          </p:cNvPr>
          <p:cNvSpPr/>
          <p:nvPr/>
        </p:nvSpPr>
        <p:spPr>
          <a:xfrm rot="16200000">
            <a:off x="-488175" y="2967455"/>
            <a:ext cx="2163097" cy="1110054"/>
          </a:xfrm>
          <a:prstGeom prst="cloudCallout">
            <a:avLst>
              <a:gd name="adj1" fmla="val -10803"/>
              <a:gd name="adj2" fmla="val 100054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b="1" i="1" dirty="0">
                <a:solidFill>
                  <a:schemeClr val="accent1">
                    <a:lumMod val="50000"/>
                  </a:schemeClr>
                </a:solidFill>
              </a:rPr>
              <a:t>Why should </a:t>
            </a:r>
            <a:br>
              <a:rPr lang="en-IN" b="1" i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b="1" i="1" dirty="0">
                <a:solidFill>
                  <a:schemeClr val="accent1">
                    <a:lumMod val="50000"/>
                  </a:schemeClr>
                </a:solidFill>
              </a:rPr>
              <a:t>I pay back!</a:t>
            </a:r>
            <a:br>
              <a:rPr lang="en-IN" b="1" i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b="1" i="1" dirty="0">
                <a:solidFill>
                  <a:schemeClr val="accent1">
                    <a:lumMod val="50000"/>
                  </a:schemeClr>
                </a:solidFill>
              </a:rPr>
              <a:t>Lol!!</a:t>
            </a: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A55B7350-C940-6233-B7C8-77884A830735}"/>
              </a:ext>
            </a:extLst>
          </p:cNvPr>
          <p:cNvSpPr/>
          <p:nvPr/>
        </p:nvSpPr>
        <p:spPr>
          <a:xfrm>
            <a:off x="206477" y="133412"/>
            <a:ext cx="11064240" cy="44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VTTL’s Response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3E4B3-D9E1-D2FC-0E8C-3FF9086C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Top Corners One Rounded and One Snipped 30">
            <a:extLst>
              <a:ext uri="{FF2B5EF4-FFF2-40B4-BE49-F238E27FC236}">
                <a16:creationId xmlns:a16="http://schemas.microsoft.com/office/drawing/2014/main" id="{32E0C924-4742-DDF4-2905-8A4CE256799D}"/>
              </a:ext>
            </a:extLst>
          </p:cNvPr>
          <p:cNvSpPr/>
          <p:nvPr/>
        </p:nvSpPr>
        <p:spPr>
          <a:xfrm>
            <a:off x="6410632" y="953729"/>
            <a:ext cx="5653549" cy="2224205"/>
          </a:xfrm>
          <a:prstGeom prst="snip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Top Corners One Rounded and One Snipped 29">
            <a:extLst>
              <a:ext uri="{FF2B5EF4-FFF2-40B4-BE49-F238E27FC236}">
                <a16:creationId xmlns:a16="http://schemas.microsoft.com/office/drawing/2014/main" id="{465B4F0D-1A46-69CC-0EAD-738481998090}"/>
              </a:ext>
            </a:extLst>
          </p:cNvPr>
          <p:cNvSpPr/>
          <p:nvPr/>
        </p:nvSpPr>
        <p:spPr>
          <a:xfrm>
            <a:off x="114548" y="953729"/>
            <a:ext cx="6187932" cy="2224205"/>
          </a:xfrm>
          <a:prstGeom prst="snip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FEC54E-B332-0545-6C51-1BBB04DED574}"/>
              </a:ext>
            </a:extLst>
          </p:cNvPr>
          <p:cNvGrpSpPr/>
          <p:nvPr/>
        </p:nvGrpSpPr>
        <p:grpSpPr>
          <a:xfrm>
            <a:off x="212868" y="3635134"/>
            <a:ext cx="11766264" cy="2748509"/>
            <a:chOff x="197628" y="2514600"/>
            <a:chExt cx="11766264" cy="274850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D50D88CB-78EF-9BC2-FCAF-F9A1A63FC9CB}"/>
                </a:ext>
              </a:extLst>
            </p:cNvPr>
            <p:cNvSpPr/>
            <p:nvPr/>
          </p:nvSpPr>
          <p:spPr>
            <a:xfrm>
              <a:off x="914400" y="3749040"/>
              <a:ext cx="2066544" cy="45720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F7F8FB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124C64F-CA92-1A25-0EEC-6E9F7FBB9EED}"/>
                </a:ext>
              </a:extLst>
            </p:cNvPr>
            <p:cNvSpPr/>
            <p:nvPr/>
          </p:nvSpPr>
          <p:spPr>
            <a:xfrm>
              <a:off x="2980944" y="3749040"/>
              <a:ext cx="2066544" cy="457200"/>
            </a:xfrm>
            <a:prstGeom prst="rect">
              <a:avLst/>
            </a:prstGeom>
            <a:solidFill>
              <a:srgbClr val="3D1D4D"/>
            </a:solidFill>
            <a:ln w="12700">
              <a:solidFill>
                <a:srgbClr val="F7F8FB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BAA4351E-754D-D3F9-954B-BA000EC39C15}"/>
                </a:ext>
              </a:extLst>
            </p:cNvPr>
            <p:cNvSpPr/>
            <p:nvPr/>
          </p:nvSpPr>
          <p:spPr>
            <a:xfrm>
              <a:off x="5047488" y="3749040"/>
              <a:ext cx="2066544" cy="457200"/>
            </a:xfrm>
            <a:prstGeom prst="rect">
              <a:avLst/>
            </a:prstGeom>
            <a:solidFill>
              <a:srgbClr val="5C1439"/>
            </a:solidFill>
            <a:ln w="12700">
              <a:solidFill>
                <a:srgbClr val="F7F8FB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97EFCC82-C8C6-0B2B-8772-E577A5A7E083}"/>
                </a:ext>
              </a:extLst>
            </p:cNvPr>
            <p:cNvSpPr/>
            <p:nvPr/>
          </p:nvSpPr>
          <p:spPr>
            <a:xfrm>
              <a:off x="7114032" y="3749040"/>
              <a:ext cx="2066544" cy="457200"/>
            </a:xfrm>
            <a:prstGeom prst="rect">
              <a:avLst/>
            </a:prstGeom>
            <a:solidFill>
              <a:srgbClr val="7A0A25"/>
            </a:solidFill>
            <a:ln w="12700">
              <a:solidFill>
                <a:srgbClr val="F7F8FB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4FCE1F76-BB18-8725-91A0-5C9DF0B11675}"/>
                </a:ext>
              </a:extLst>
            </p:cNvPr>
            <p:cNvSpPr/>
            <p:nvPr/>
          </p:nvSpPr>
          <p:spPr>
            <a:xfrm>
              <a:off x="9180576" y="3749040"/>
              <a:ext cx="2066544" cy="45720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F7F8FB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0A5E93B6-AC24-D848-B074-8BDD2A3E8B95}"/>
                </a:ext>
              </a:extLst>
            </p:cNvPr>
            <p:cNvSpPr/>
            <p:nvPr/>
          </p:nvSpPr>
          <p:spPr>
            <a:xfrm>
              <a:off x="197628" y="4316312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CLASSIC GUARANTEE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9E1BCAD-26BD-1332-DBF2-1BBBC4B81312}"/>
                </a:ext>
              </a:extLst>
            </p:cNvPr>
            <p:cNvSpPr/>
            <p:nvPr/>
          </p:nvSpPr>
          <p:spPr>
            <a:xfrm>
              <a:off x="640080" y="4663440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purely Secondary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B083434-DFB1-D1FF-BCE4-A5AD7321D62C}"/>
                </a:ext>
              </a:extLst>
            </p:cNvPr>
            <p:cNvSpPr/>
            <p:nvPr/>
          </p:nvSpPr>
          <p:spPr>
            <a:xfrm>
              <a:off x="4434840" y="4396003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C9A227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HYBRID ZONE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C9A227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(Tuckwell's guarantee)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C0382FDF-EDC6-D3DB-08BF-25E2088160B0}"/>
                </a:ext>
              </a:extLst>
            </p:cNvPr>
            <p:cNvSpPr/>
            <p:nvPr/>
          </p:nvSpPr>
          <p:spPr>
            <a:xfrm>
              <a:off x="4434840" y="4897349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some secondary, some primary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3859B4DE-3DA4-2F62-7D8B-578E5E1ABB99}"/>
                </a:ext>
              </a:extLst>
            </p:cNvPr>
            <p:cNvSpPr/>
            <p:nvPr/>
          </p:nvSpPr>
          <p:spPr>
            <a:xfrm>
              <a:off x="8763492" y="438912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2000" b="1" dirty="0">
                  <a:solidFill>
                    <a:srgbClr val="99001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PERFORMANCE / DEMAND BOND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212A39FF-22BC-8767-9042-1B1C636F0F0B}"/>
                </a:ext>
              </a:extLst>
            </p:cNvPr>
            <p:cNvSpPr/>
            <p:nvPr/>
          </p:nvSpPr>
          <p:spPr>
            <a:xfrm>
              <a:off x="8350537" y="4795143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rgbClr val="55555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pay on mere demand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22D491E2-6157-C1CE-76B6-CE8DAF82BF36}"/>
                </a:ext>
              </a:extLst>
            </p:cNvPr>
            <p:cNvSpPr/>
            <p:nvPr/>
          </p:nvSpPr>
          <p:spPr>
            <a:xfrm rot="10800000">
              <a:off x="7210958" y="3429000"/>
              <a:ext cx="219456" cy="274320"/>
            </a:xfrm>
            <a:prstGeom prst="triangle">
              <a:avLst/>
            </a:prstGeom>
            <a:solidFill>
              <a:srgbClr val="C9A227"/>
            </a:solidFill>
            <a:ln/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134FAFE-A2F4-A410-E9BA-5858BFFFE4F7}"/>
                </a:ext>
              </a:extLst>
            </p:cNvPr>
            <p:cNvSpPr/>
            <p:nvPr/>
          </p:nvSpPr>
          <p:spPr>
            <a:xfrm>
              <a:off x="5583326" y="2514600"/>
              <a:ext cx="3474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9A227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2183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Tuckwell's Personal Guarantee landed here — tipped toward PRIMARY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E40A24-231F-0289-EE09-9669B33D7C35}"/>
              </a:ext>
            </a:extLst>
          </p:cNvPr>
          <p:cNvGrpSpPr/>
          <p:nvPr/>
        </p:nvGrpSpPr>
        <p:grpSpPr>
          <a:xfrm>
            <a:off x="132343" y="1120829"/>
            <a:ext cx="6189800" cy="1756850"/>
            <a:chOff x="1390871" y="1320511"/>
            <a:chExt cx="6351049" cy="1756850"/>
          </a:xfrm>
        </p:grpSpPr>
        <p:sp>
          <p:nvSpPr>
            <p:cNvPr id="3" name="Text 12">
              <a:extLst>
                <a:ext uri="{FF2B5EF4-FFF2-40B4-BE49-F238E27FC236}">
                  <a16:creationId xmlns:a16="http://schemas.microsoft.com/office/drawing/2014/main" id="{C236949B-6DAC-EE8F-4A81-72FD33E70E08}"/>
                </a:ext>
              </a:extLst>
            </p:cNvPr>
            <p:cNvSpPr/>
            <p:nvPr/>
          </p:nvSpPr>
          <p:spPr>
            <a:xfrm>
              <a:off x="1390871" y="1320511"/>
              <a:ext cx="635104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Catalyst did not Breach the Contract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75567108-B6F8-BA53-657D-ADD36426F59F}"/>
                </a:ext>
              </a:extLst>
            </p:cNvPr>
            <p:cNvSpPr/>
            <p:nvPr/>
          </p:nvSpPr>
          <p:spPr>
            <a:xfrm>
              <a:off x="1390871" y="2030397"/>
              <a:ext cx="6351049" cy="10469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There is no other circumstance for Catalyst to transfer the sum to VTTL</a:t>
              </a:r>
            </a:p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+</a:t>
              </a:r>
            </a:p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Boards’ approval requirement was previously communicated with VTTL</a:t>
              </a:r>
              <a:endPara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B1A90E-372F-2AF4-431D-FBCAEBEDDA6B}"/>
              </a:ext>
            </a:extLst>
          </p:cNvPr>
          <p:cNvGrpSpPr/>
          <p:nvPr/>
        </p:nvGrpSpPr>
        <p:grpSpPr>
          <a:xfrm>
            <a:off x="6400800" y="1120829"/>
            <a:ext cx="5578825" cy="1756850"/>
            <a:chOff x="1390871" y="1320511"/>
            <a:chExt cx="6351049" cy="1756850"/>
          </a:xfrm>
        </p:grpSpPr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93925768-C0CC-FBE4-0459-9161A695C5F3}"/>
                </a:ext>
              </a:extLst>
            </p:cNvPr>
            <p:cNvSpPr/>
            <p:nvPr/>
          </p:nvSpPr>
          <p:spPr>
            <a:xfrm>
              <a:off x="1390871" y="1320511"/>
              <a:ext cx="635104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990011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Tuckwell Has Primary Liability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A060FA60-D2C5-F335-E184-5CFB3F83D3AD}"/>
                </a:ext>
              </a:extLst>
            </p:cNvPr>
            <p:cNvSpPr/>
            <p:nvPr/>
          </p:nvSpPr>
          <p:spPr>
            <a:xfrm>
              <a:off x="1390871" y="2030397"/>
              <a:ext cx="6351049" cy="10469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Contract of Suretyship explained from the case:</a:t>
              </a:r>
              <a:br>
                <a:rPr lang="en-IN" sz="20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</a:br>
              <a:r>
                <a:rPr lang="fr-FR" sz="2000" b="1" dirty="0">
                  <a:solidFill>
                    <a:srgbClr val="C0000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VOSSLOH V ALPHA TRAINS [2010] EWHC 2443</a:t>
              </a:r>
            </a:p>
            <a:p>
              <a:pPr algn="ctr"/>
              <a:endPara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9" name="Text 1">
            <a:extLst>
              <a:ext uri="{FF2B5EF4-FFF2-40B4-BE49-F238E27FC236}">
                <a16:creationId xmlns:a16="http://schemas.microsoft.com/office/drawing/2014/main" id="{EEA22F49-1501-54AC-3FDB-F219B60559E4}"/>
              </a:ext>
            </a:extLst>
          </p:cNvPr>
          <p:cNvSpPr/>
          <p:nvPr/>
        </p:nvSpPr>
        <p:spPr>
          <a:xfrm>
            <a:off x="413545" y="250080"/>
            <a:ext cx="11064240" cy="44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Court’s Observation</a:t>
            </a:r>
          </a:p>
        </p:txBody>
      </p:sp>
    </p:spTree>
    <p:extLst>
      <p:ext uri="{BB962C8B-B14F-4D97-AF65-F5344CB8AC3E}">
        <p14:creationId xmlns:p14="http://schemas.microsoft.com/office/powerpoint/2010/main" val="40436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026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VERDICT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Judgment for Catalyst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285999"/>
            <a:ext cx="6583680" cy="2698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Tuckwell's Personal Guarantee was a </a:t>
            </a:r>
            <a:r>
              <a:rPr lang="en-US" sz="2400" b="1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hybrid document</a:t>
            </a: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— but on the point that mattered, it created </a:t>
            </a:r>
            <a:r>
              <a:rPr lang="en-US" sz="2400" b="1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primary liability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principle of </a:t>
            </a:r>
            <a:r>
              <a:rPr lang="en-US" sz="2400" b="1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co-extensiveness did not apply</a:t>
            </a: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so he could </a:t>
            </a:r>
            <a:r>
              <a:rPr lang="en-US" sz="2400" b="1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 borrow VTTL's defences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39" y="5166852"/>
            <a:ext cx="1032583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A227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“I shall be liable under this deed in every respect as a principal debtor.”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09184" y="2054942"/>
            <a:ext cx="3566160" cy="2507226"/>
          </a:xfrm>
          <a:prstGeom prst="roundRect">
            <a:avLst>
              <a:gd name="adj" fmla="val 0"/>
            </a:avLst>
          </a:prstGeom>
          <a:solidFill>
            <a:schemeClr val="accent4">
              <a:lumMod val="50000"/>
              <a:alpha val="41681"/>
            </a:scheme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0" y="248510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£80,000</a:t>
            </a:r>
            <a:b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</a:b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+interest</a:t>
            </a:r>
            <a:b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</a:b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+legal costs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0" y="363547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4D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Recovered personally from Tuckwell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7B13-92F9-59DC-1005-16815461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374D66-1F00-3049-CF49-A83F8B1973ED}"/>
              </a:ext>
            </a:extLst>
          </p:cNvPr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CONSTRUING TUCKWELL'S PERSONAL GUARANTEE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9AF7DE-DA87-20DC-4788-AB555479B793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Clues That Sealed His Fate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DFF778-21B9-ADBE-E3BA-9744F0EBB226}"/>
              </a:ext>
            </a:extLst>
          </p:cNvPr>
          <p:cNvGrpSpPr/>
          <p:nvPr/>
        </p:nvGrpSpPr>
        <p:grpSpPr>
          <a:xfrm>
            <a:off x="409021" y="1321016"/>
            <a:ext cx="594360" cy="594360"/>
            <a:chOff x="777240" y="1965960"/>
            <a:chExt cx="594360" cy="5943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D1D59DD-A0A3-9D0B-2669-7FF289D4D6E1}"/>
                </a:ext>
              </a:extLst>
            </p:cNvPr>
            <p:cNvSpPr/>
            <p:nvPr/>
          </p:nvSpPr>
          <p:spPr>
            <a:xfrm>
              <a:off x="777240" y="1965960"/>
              <a:ext cx="594360" cy="594360"/>
            </a:xfrm>
            <a:prstGeom prst="ellipse">
              <a:avLst/>
            </a:prstGeom>
            <a:solidFill>
              <a:srgbClr val="990011"/>
            </a:solidFill>
            <a:ln/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6C1CB05-6D18-3D7A-81EA-BE37B3614227}"/>
                </a:ext>
              </a:extLst>
            </p:cNvPr>
            <p:cNvSpPr/>
            <p:nvPr/>
          </p:nvSpPr>
          <p:spPr>
            <a:xfrm>
              <a:off x="777240" y="196596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1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0D24CE10-3B41-40CB-5BEE-512C6B74BF36}"/>
              </a:ext>
            </a:extLst>
          </p:cNvPr>
          <p:cNvSpPr/>
          <p:nvPr/>
        </p:nvSpPr>
        <p:spPr>
          <a:xfrm>
            <a:off x="165920" y="1915376"/>
            <a:ext cx="11302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3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Clause 3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10EB1E-BA3E-7174-BEE9-6F1EE29F2488}"/>
              </a:ext>
            </a:extLst>
          </p:cNvPr>
          <p:cNvGrpSpPr/>
          <p:nvPr/>
        </p:nvGrpSpPr>
        <p:grpSpPr>
          <a:xfrm>
            <a:off x="2043635" y="1097382"/>
            <a:ext cx="8104730" cy="1800476"/>
            <a:chOff x="2043635" y="1097382"/>
            <a:chExt cx="8104730" cy="180047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2706B3-3548-219A-E3E6-914B18C72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3635" y="1097382"/>
              <a:ext cx="8104730" cy="180047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AE9FC9-43F1-2BB4-3229-F1AA1AA24962}"/>
                </a:ext>
              </a:extLst>
            </p:cNvPr>
            <p:cNvSpPr/>
            <p:nvPr/>
          </p:nvSpPr>
          <p:spPr>
            <a:xfrm>
              <a:off x="6862916" y="1517846"/>
              <a:ext cx="3136490" cy="237904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766619-A8F8-F555-A422-D3DEA05501B2}"/>
                </a:ext>
              </a:extLst>
            </p:cNvPr>
            <p:cNvSpPr/>
            <p:nvPr/>
          </p:nvSpPr>
          <p:spPr>
            <a:xfrm>
              <a:off x="2163220" y="1755750"/>
              <a:ext cx="7836186" cy="237904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14926A-784E-AE83-AF30-EFE7FD26184D}"/>
              </a:ext>
            </a:extLst>
          </p:cNvPr>
          <p:cNvGrpSpPr/>
          <p:nvPr/>
        </p:nvGrpSpPr>
        <p:grpSpPr>
          <a:xfrm>
            <a:off x="409021" y="3336577"/>
            <a:ext cx="594360" cy="594360"/>
            <a:chOff x="4572000" y="1965960"/>
            <a:chExt cx="594360" cy="594360"/>
          </a:xfrm>
        </p:grpSpPr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F01CBBA6-7A64-F7EA-110A-1BE126F06B0D}"/>
                </a:ext>
              </a:extLst>
            </p:cNvPr>
            <p:cNvSpPr/>
            <p:nvPr/>
          </p:nvSpPr>
          <p:spPr>
            <a:xfrm>
              <a:off x="4572000" y="1965960"/>
              <a:ext cx="594360" cy="59436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88255D41-87AD-B032-82F6-0A27451D5378}"/>
                </a:ext>
              </a:extLst>
            </p:cNvPr>
            <p:cNvSpPr/>
            <p:nvPr/>
          </p:nvSpPr>
          <p:spPr>
            <a:xfrm>
              <a:off x="4572000" y="196596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2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Text 10">
            <a:extLst>
              <a:ext uri="{FF2B5EF4-FFF2-40B4-BE49-F238E27FC236}">
                <a16:creationId xmlns:a16="http://schemas.microsoft.com/office/drawing/2014/main" id="{B71F9492-5F22-A0D1-E4DC-5A29CCFB5294}"/>
              </a:ext>
            </a:extLst>
          </p:cNvPr>
          <p:cNvSpPr/>
          <p:nvPr/>
        </p:nvSpPr>
        <p:spPr>
          <a:xfrm>
            <a:off x="69317" y="3930937"/>
            <a:ext cx="18681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3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Clause 7.7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AC06A5-540C-8CE2-4CEC-616F7BDE7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35" y="3094284"/>
            <a:ext cx="8104730" cy="271500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33C45F1-A2E8-BD43-F2CA-08066F32525E}"/>
              </a:ext>
            </a:extLst>
          </p:cNvPr>
          <p:cNvSpPr/>
          <p:nvPr/>
        </p:nvSpPr>
        <p:spPr>
          <a:xfrm>
            <a:off x="2163220" y="5522714"/>
            <a:ext cx="6312186" cy="237904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55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7632-F788-CBC1-6CBD-151028E2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F4896CC-FA95-CDE7-E3BA-3A7FC070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635" y="977183"/>
            <a:ext cx="8104730" cy="314685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68312DE-1FC4-A266-FF39-456B30A72C63}"/>
              </a:ext>
            </a:extLst>
          </p:cNvPr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CONSTRUING TUCKWELL'S PERSONAL GUARANTEE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AED045-D45F-5D8A-3A0F-B3E111EED1E6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Clues That Sealed His Fate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6B657A-0C88-67C9-D35C-8AB9F91D3E72}"/>
              </a:ext>
            </a:extLst>
          </p:cNvPr>
          <p:cNvGrpSpPr/>
          <p:nvPr/>
        </p:nvGrpSpPr>
        <p:grpSpPr>
          <a:xfrm>
            <a:off x="409021" y="1321016"/>
            <a:ext cx="594360" cy="594360"/>
            <a:chOff x="777240" y="1965960"/>
            <a:chExt cx="594360" cy="5943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C25DB09-7241-E742-F6CC-C964CC55F6BB}"/>
                </a:ext>
              </a:extLst>
            </p:cNvPr>
            <p:cNvSpPr/>
            <p:nvPr/>
          </p:nvSpPr>
          <p:spPr>
            <a:xfrm>
              <a:off x="777240" y="1965960"/>
              <a:ext cx="594360" cy="594360"/>
            </a:xfrm>
            <a:prstGeom prst="ellipse">
              <a:avLst/>
            </a:prstGeom>
            <a:solidFill>
              <a:srgbClr val="990011"/>
            </a:solidFill>
            <a:ln/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AC45BAB-4BD8-3CD5-9EAF-0AF110C0AB50}"/>
                </a:ext>
              </a:extLst>
            </p:cNvPr>
            <p:cNvSpPr/>
            <p:nvPr/>
          </p:nvSpPr>
          <p:spPr>
            <a:xfrm>
              <a:off x="777240" y="196596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3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EEC5AFFE-A406-C76A-8CB0-75C07CFE3249}"/>
              </a:ext>
            </a:extLst>
          </p:cNvPr>
          <p:cNvSpPr/>
          <p:nvPr/>
        </p:nvSpPr>
        <p:spPr>
          <a:xfrm>
            <a:off x="165920" y="1915376"/>
            <a:ext cx="11302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3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Clause 2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CFC9A7-5A20-DA13-82F3-2EF60DC3B041}"/>
              </a:ext>
            </a:extLst>
          </p:cNvPr>
          <p:cNvGrpSpPr/>
          <p:nvPr/>
        </p:nvGrpSpPr>
        <p:grpSpPr>
          <a:xfrm>
            <a:off x="409021" y="4555779"/>
            <a:ext cx="594360" cy="594360"/>
            <a:chOff x="4572000" y="1965960"/>
            <a:chExt cx="594360" cy="594360"/>
          </a:xfrm>
        </p:grpSpPr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CF2F3921-C6D0-E52D-FE02-AD5F06A2AB84}"/>
                </a:ext>
              </a:extLst>
            </p:cNvPr>
            <p:cNvSpPr/>
            <p:nvPr/>
          </p:nvSpPr>
          <p:spPr>
            <a:xfrm>
              <a:off x="4572000" y="1965960"/>
              <a:ext cx="594360" cy="59436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44ED95E8-3E81-14DC-6E31-D06A965815E8}"/>
                </a:ext>
              </a:extLst>
            </p:cNvPr>
            <p:cNvSpPr/>
            <p:nvPr/>
          </p:nvSpPr>
          <p:spPr>
            <a:xfrm>
              <a:off x="4572000" y="196596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4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Text 10">
            <a:extLst>
              <a:ext uri="{FF2B5EF4-FFF2-40B4-BE49-F238E27FC236}">
                <a16:creationId xmlns:a16="http://schemas.microsoft.com/office/drawing/2014/main" id="{D0B7DC21-0631-1CE3-9162-EEE4A0BE16C6}"/>
              </a:ext>
            </a:extLst>
          </p:cNvPr>
          <p:cNvSpPr/>
          <p:nvPr/>
        </p:nvSpPr>
        <p:spPr>
          <a:xfrm>
            <a:off x="69317" y="5150139"/>
            <a:ext cx="18681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3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Clause 5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F1A424-DD48-F0A6-F019-AFEFB6270D8E}"/>
              </a:ext>
            </a:extLst>
          </p:cNvPr>
          <p:cNvSpPr/>
          <p:nvPr/>
        </p:nvSpPr>
        <p:spPr>
          <a:xfrm>
            <a:off x="2498376" y="1243504"/>
            <a:ext cx="6312186" cy="237904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E2AE65-4CEC-0D2C-9636-1A19A0E75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36" y="4310341"/>
            <a:ext cx="8104729" cy="218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9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BRINGING IT HOME</a:t>
            </a:r>
            <a:endParaRPr lang="en-US" sz="12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Takeaways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63915"/>
            <a:ext cx="5349240" cy="194504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2E5E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537013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218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document titled 'Guarantee' isn't always one in substance — courts read the actual wording, not the label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80760" y="1163915"/>
            <a:ext cx="5349240" cy="194504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2E5E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3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80860" y="1484259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218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'Principal debtor' and 'indemnify and hold harmless' are drafting fingerprints of primary liability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8304" y="3357489"/>
            <a:ext cx="5349240" cy="194504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2E5E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3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1086" y="3758511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218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Guarantee = secondary &amp; co-extensive; Indemnity = primary &amp; independent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00424" y="3357489"/>
            <a:ext cx="5349240" cy="194504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2E5EF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4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80860" y="3758511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218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 every clause (especially the quiet ones at the end) before you put your house on the line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68EBA-786E-9196-4576-5308AC56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BA486-C91B-43A8-CC58-28CFFBCAF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40" b="460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0E8877-FD0B-82D1-3530-A3EEB0B2F826}"/>
              </a:ext>
            </a:extLst>
          </p:cNvPr>
          <p:cNvSpPr/>
          <p:nvPr/>
        </p:nvSpPr>
        <p:spPr>
          <a:xfrm>
            <a:off x="5231218" y="3051544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Atharva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D714B8-B599-B329-7E11-C32A12BCEFB8}"/>
              </a:ext>
            </a:extLst>
          </p:cNvPr>
          <p:cNvSpPr/>
          <p:nvPr/>
        </p:nvSpPr>
        <p:spPr>
          <a:xfrm>
            <a:off x="2332074" y="3565451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Midhun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E09DAA-C275-3C2E-2C9B-38E6582A76C4}"/>
              </a:ext>
            </a:extLst>
          </p:cNvPr>
          <p:cNvSpPr/>
          <p:nvPr/>
        </p:nvSpPr>
        <p:spPr>
          <a:xfrm>
            <a:off x="8024037" y="5057554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Maitreyi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A135BB-83F8-3387-52FC-BAAC147660EB}"/>
              </a:ext>
            </a:extLst>
          </p:cNvPr>
          <p:cNvSpPr/>
          <p:nvPr/>
        </p:nvSpPr>
        <p:spPr>
          <a:xfrm>
            <a:off x="496186" y="6365358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Rishabh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1F0952-2EEC-C2DE-EBE3-B271ECFA8787}"/>
              </a:ext>
            </a:extLst>
          </p:cNvPr>
          <p:cNvSpPr/>
          <p:nvPr/>
        </p:nvSpPr>
        <p:spPr>
          <a:xfrm>
            <a:off x="8906539" y="2380562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Kaushik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832342-77D4-9D3A-FDD9-E30B04E05ACB}"/>
              </a:ext>
            </a:extLst>
          </p:cNvPr>
          <p:cNvSpPr/>
          <p:nvPr/>
        </p:nvSpPr>
        <p:spPr>
          <a:xfrm>
            <a:off x="10419907" y="6365358"/>
            <a:ext cx="1275907" cy="2977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badi ExtraLight" panose="020F0502020204030204" pitchFamily="34" charset="0"/>
              </a:rPr>
              <a:t>Manvi</a:t>
            </a: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18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676</Words>
  <Application>Microsoft Office PowerPoint</Application>
  <PresentationFormat>Widescreen</PresentationFormat>
  <Paragraphs>141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Abadi ExtraLight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Atharva Ingole</cp:lastModifiedBy>
  <cp:revision>67</cp:revision>
  <dcterms:created xsi:type="dcterms:W3CDTF">2026-08-05T11:59:51Z</dcterms:created>
  <dcterms:modified xsi:type="dcterms:W3CDTF">2026-08-12T03:12:24Z</dcterms:modified>
</cp:coreProperties>
</file>